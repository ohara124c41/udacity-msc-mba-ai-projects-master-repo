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4" d="100"/>
          <a:sy n="84" d="100"/>
        </p:scale>
        <p:origin x="629"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4021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Welcome to the Craft Snacks Growth Initiative presentation.</a:t>
            </a:r>
          </a:p>
          <a:p>
            <a:r>
              <a:t>HIGHLIGHTS: We will walk through a four-part growth plan: inspecting the landscape, mapping a growth loop, validating it through A/B testing, and developing our long-term vision.</a:t>
            </a:r>
          </a:p>
          <a:p>
            <a:r>
              <a:t>TRANSITION: Let us start by inspecting the landscape to establish context and alignment.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Part 1: Inspecting the Landscape.</a:t>
            </a:r>
          </a:p>
          <a:p>
            <a:r>
              <a:t>HIGHLIGHTS: In this section we deconstruct the business context to identify the goal, growth components, key metrics, and target personas.</a:t>
            </a:r>
          </a:p>
          <a:p>
            <a:r>
              <a:t>TRANSITION: We begin with the business goal and product strategy.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Our mission is clear: 20% MoM growth in new subscribers through a sustainable, viral product strategy.</a:t>
            </a:r>
          </a:p>
          <a:p>
            <a:r>
              <a:t>HIGHLIGHTS: The 20% target is compounding: 2,100 → ~3,629 by month 3. The strategy is not about spending more on ads, it is about turning existing customers into an acquisition channel by amplifying what they already do (share). This directly addresses the business request for "viral growth by leveraging the existing customers' network."</a:t>
            </a:r>
          </a:p>
          <a:p>
            <a:r>
              <a:t>TRANSITION: To understand how to grow, we first need to map the full user journey using the AARRR framework.</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Mapping our entire user journey via the AARRR framework reveals where we are strong and where growth opportunities exist.</a:t>
            </a:r>
          </a:p>
          <a:p>
            <a:r>
              <a:t>HIGHLIGHTS: Acquisition is our largest funnel entry (70K visitors/month) but is dominated by paid ads (55%). Referral is our most organic and authentic channel but only accounts for 18% today. Retention at 30% MAU shows a highly engaged core base. The Referral and Activation components are where our growth loop will focus.</a:t>
            </a:r>
          </a:p>
          <a:p>
            <a:r>
              <a:t>TRANSITION: Now let us identify which metrics matter most: the primary metric and the secondary metrics that surround it.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One primary metric tells us if we are winning; a constellation of secondary metrics tells us why.</a:t>
            </a:r>
          </a:p>
          <a:p>
            <a:r>
              <a:t>HIGHLIGHTS: The primary metric is unambiguous: new monthly subscribed users. Everything upstream (visitor sessions, conversion rate, referral sharing) feeds into it; everything downstream (total subscribers, MAU, review activity) flows from it. This structure helps us diagnose issues quickly: if the primary metric stalls, we examine the upstream drivers first.</a:t>
            </a:r>
          </a:p>
          <a:p>
            <a:r>
              <a:t>TRANSITION: Before we design a growth strategy, we need to deeply understand who we are growing: our target personas.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Our existing customers are enthusiastic sharers; our potential customers need trust-building before they convert.</a:t>
            </a:r>
          </a:p>
          <a:p>
            <a:r>
              <a:t>HIGHLIGHTS: The gap between the two personas is key to our strategy: existing customers already do what potential customers need to see: share real experiences. By bridging these two groups with a sharing feature, we use existing customer authenticity to overcome potential customer hesitation. This persona insight is the backbone of the growth loop we will present next.</a:t>
            </a:r>
          </a:p>
          <a:p>
            <a:r>
              <a:t>TRANSITION: With a clear picture of who our users are, let us now map out the path to growth.</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Part 2: Mapping Out the Path to Growth.</a:t>
            </a:r>
          </a:p>
          <a:p>
            <a:r>
              <a:t>HIGHLIGHTS: We will frame the growth problem, design a growth loop, and articulate the hypotheses that underpin every step.</a:t>
            </a:r>
          </a:p>
          <a:p>
            <a:r>
              <a:t>TRANSITION: Let us start with the growth problem framing.</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We have significant resources to leverage: the challenge is bridging enthusiastic existing customers with hesitant potential ones.</a:t>
            </a:r>
          </a:p>
          <a:p>
            <a:r>
              <a:t>HIGHLIGHTS: Resources: engaged MAU base and 36% spontaneous sharers. Value: these shares become free, authentic marketing. Hurdles: trust barriers (quality + reliability) are the primary friction stopping potential customers from converting. Goal: grow 20% MoM by activating existing customers as an acquisition engine.</a:t>
            </a:r>
          </a:p>
          <a:p>
            <a:r>
              <a:t>TRANSITION: Now let us design the growth loop that puts these elements into motion.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The growth loop turns every box delivery into a potential new acquisition event.</a:t>
            </a:r>
          </a:p>
          <a:p>
            <a:r>
              <a:t>HIGHLIGHTS: Step 1 (Engage) → Step 2 (Share via new 'Share My Box' feature) → Step 3 (New visitors Discover Craft Snacks via authentic peer content) → Step 4 (Convert: higher trust leads to higher conversion) → Step 5 (Repeat: new subscribers become new sharers). The key product feature is 'Share My Box', it formalizes and incentivizes an already-existing natural behavior. The dual incentive (loyalty points for sharer + discount for new sign-up) reduces friction on both ends of the loop.</a:t>
            </a:r>
          </a:p>
          <a:p>
            <a:r>
              <a:t>TRANSITION: Every loop is built on assumptions. Let us make those explicit.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Every step in the growth loop rests on a testable assumption: making these explicit is what separates strategy from wishful thinking.</a:t>
            </a:r>
          </a:p>
          <a:p>
            <a:r>
              <a:t>HIGHLIGHTS: The overall hypothesis ties directly to the business goal. Each step-level hypothesis is grounded in data from the prompt: 36% already share, social media is already 18% of acquisition, trust barriers are documented, and new subscriber behavior can be tracked. All four hypotheses are independently testable and falsifiable.</a:t>
            </a:r>
          </a:p>
          <a:p>
            <a:r>
              <a:t>TRANSITION: Let us consolidate these into a clear primary and secondary hypothesis structure.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One primary hypothesis drives the business goal; four secondary hypotheses ensure we can diagnose what is working at each step.</a:t>
            </a:r>
          </a:p>
          <a:p>
            <a:r>
              <a:t>HIGHLIGHTS: The primary hypothesis is directly tied to the 20% MoM target and the product strategy. The secondary hypotheses address each mechanism in the loop: sharing adoption, referral traffic generation, conversion lift, and loop compounding. If any secondary hypothesis fails, we know exactly where to intervene. This structure makes our growth plan both strategic and diagnostic.</a:t>
            </a:r>
          </a:p>
          <a:p>
            <a:r>
              <a:t>TRANSITION: Now we need to validate these hypotheses. Let us design the A/B test.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Part 3: Validating the Path to Growth.</a:t>
            </a:r>
          </a:p>
          <a:p>
            <a:r>
              <a:t>HIGHLIGHTS: We propose an A/B testing plan to validate the growth loop hypotheses before full rollout.</a:t>
            </a:r>
          </a:p>
          <a:p>
            <a:r>
              <a:t>TRANSITION: We begin by translating our hypotheses into test questions with measurable metrics.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Each hypothesis becomes a concrete test question with specific metrics: so we know exactly what 'success' looks like before we run the test.</a:t>
            </a:r>
          </a:p>
          <a:p>
            <a:r>
              <a:t>HIGHLIGHTS: The primary test question focuses on sharing behavior: the first link in the chain. Secondary questions cascade downstream to measure traffic generation, conversion lift, and loop compounding. By pre-defining metrics, we eliminate post-hoc rationalization and ensure the test is truly falsifiable.</a:t>
            </a:r>
          </a:p>
          <a:p>
            <a:r>
              <a:t>TRANSITION: Now let us define who we test with and how we control the experiment.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We test with our most engaged users, using a clean 50/50 split that isolates the feature's impact on sharing behavior.</a:t>
            </a:r>
          </a:p>
          <a:p>
            <a:r>
              <a:t>HIGHLIGHTS: Active subscribers are the right audience because they are at the point in the loop where sharing would naturally occur. The 2-month minimum duration ensures we capture at least two box delivery cycles, avoiding single-cycle anomalies. UTM-tagged referral links allow us to attribute downstream conversions precisely to the test group's sharing activity.</a:t>
            </a:r>
          </a:p>
          <a:p>
            <a:r>
              <a:t>TRANSITION: No test is without risk. Let us identify and mitigate the key ones.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Anticipating risks before the test is what separates a rigorous A/B test from a flawed one.</a:t>
            </a:r>
          </a:p>
          <a:p>
            <a:r>
              <a:t>HIGHLIGHTS: The four risks cover the most common failure modes: sampling issues (selection bias), short-term distortions (novelty effect), cross-group contamination (social contamination), and incentive perverse effects (incentive inflation). Each mitigation is actionable and baked into the test design, not reactive.</a:t>
            </a:r>
          </a:p>
          <a:p>
            <a:r>
              <a:t>TRANSITION: Now let us anticipate what the results might tell us and what we should do next.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We are prepared for both outcomes: success tells us how to scale, failure tells us where to fix.</a:t>
            </a:r>
          </a:p>
          <a:p>
            <a:r>
              <a:t>HIGHLIGHTS: If the hypothesis is true, the K-factor analysis is critical: a K &gt; 1 means the loop is genuinely self-sustaining and we can project exponential growth. If false, we do not abandon the strategy: we diagnose via funnel drop-off analysis and qualitative research to understand whether the issue is feature design, incentive sizing, or a fundamental assumption failure. In either case, the data drives the next decision.</a:t>
            </a:r>
          </a:p>
          <a:p>
            <a:r>
              <a:t>TRANSITION: With validation in mind, let us now look ahead at the long-term growth vision.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Part 4: Developing the Growth Vision.</a:t>
            </a:r>
          </a:p>
          <a:p>
            <a:r>
              <a:t>HIGHLIGHTS: We analyze growth risks, explore expansion opportunities via the Ansoff Matrix, and propose an expanded growth loop that compounds our acquisition engine.</a:t>
            </a:r>
          </a:p>
          <a:p>
            <a:r>
              <a:t>TRANSITION: Let us begin by identifying the growth risks we need to plan for.</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Three structural bottlenecks: retention, market saturation, and single product/market dependence: must be monitored to protect the long-term growth engine.</a:t>
            </a:r>
          </a:p>
          <a:p>
            <a:r>
              <a:t>HIGHLIGHTS: Retention is the most immediate risk: 70% of subscribers are currently inactive, meaning the sharer pool is smaller than it could be. Saturation is a horizon risk that can be pre-empted through market expansion. Single product/market is the structural vulnerability, addressed by the Snack Store and corporate gifting opportunities we will see on the next slide.</a:t>
            </a:r>
          </a:p>
          <a:p>
            <a:r>
              <a:t>TRANSITION: Let us use the Ansoff Matrix to formally map these expansion opportunities.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The Ansoff Matrix gives us a structured roadmap for expansion: from the lowest-risk near-term actions to long-term diversification bets.</a:t>
            </a:r>
          </a:p>
          <a:p>
            <a:r>
              <a:t>HIGHLIGHTS: Market Penetration (lower-left) is our immediate focus, it amplifies the existing growth loop with lowest risk. Product Development (lower-right, Snack Store) addresses the 45% retention signal where customers seek out favorites, and creates a new subscription acquisition funnel. Market Expansion (corporate gifting) taps a completely new customer segment. Diversification (Experience Box) is a future-state play after the core loop is validated.</a:t>
            </a:r>
          </a:p>
          <a:p>
            <a:r>
              <a:t>TRANSITION: Now let us show how these opportunities expand the original growth loop.</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Two interlocking loops compound our acquisition engine: one viral, one conversion-focused.</a:t>
            </a:r>
          </a:p>
          <a:p>
            <a:r>
              <a:t>HIGHLIGHTS: The Original Loop (Share My Box) is fast and viral but requires customer enthusiasm. The Expanded Loop (Snack Store → Subscription) is slower but broader, it reaches the skeptical 'hesitant buyer' segment who won't commit to a subscription without trying first. Together they cover different conversion barriers and feed each other: Snack Store users who subscribe become sharers in the Original Loop.</a:t>
            </a:r>
          </a:p>
          <a:p>
            <a:r>
              <a:t>TRANSITION: Let us summarize the full growth plan and its strategic rationale.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Our growth plan is grounded in evidence, structured by the Ansoff Matrix, and directly tied to the 20% MoM business goal.</a:t>
            </a:r>
          </a:p>
          <a:p>
            <a:r>
              <a:t>HIGHLIGHTS: The Original Loop (Market Penetration) is our near-term engine: low risk, evidence-based, directly impacting the primary metric. The Expanded Loop (Product Development) is our medium-term expansion, it broadens the funnel for hesitant buyers while creating a new revenue stream. Together they address the two core persona insights: the enthusiastic sharer and the hesitant explorer. This is a sustainable growth strategy, not a growth hack.</a:t>
            </a:r>
          </a:p>
          <a:p>
            <a:r>
              <a:t>TRANSITION: Thank you. We are now open for questions and discussion.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section covering competitive research and user stories.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Craft Snacks competes in a crowded artisan subscription box space: differentiation through social sharing and community is a clear white space.</a:t>
            </a:r>
          </a:p>
          <a:p>
            <a:r>
              <a:t>HIGHLIGHTS: Key observations: (1) None of the primary competitors have a peer-referral or social sharing feature as a core product feature: this is our competitive white space. (2) Graze and SnackMagic have entered the corporate/B2B space: confirming the Market Expansion opportunity. (3) Mouth has a standalone store alongside subscription: validating the Product Development (Snack Store) concept. Our growth loop strategy is well-positioned relative to the competitive landscape.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Five user stories cover the full experience of the 'Share My Box' feature from the subscriber, the new visitor, and the PM's perspectives.</a:t>
            </a:r>
          </a:p>
          <a:p>
            <a:r>
              <a:t>HIGHLIGHTS: The user stories span three personas: existing subscribers (motivation to share, reward for sharing), potential customers (trust-building via friend's post, low-barrier first offer), and the Growth PM (measurement and analytics). The dev team questions flag the key technical uncertainties to resolve in sprint planning: image card generation, social platform integrations, and tracking pipeline latency.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2926080"/>
            <a:ext cx="12188952" cy="54864"/>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914400"/>
            <a:ext cx="10360152" cy="914400"/>
          </a:xfrm>
          <a:prstGeom prst="rect">
            <a:avLst/>
          </a:prstGeom>
          <a:noFill/>
        </p:spPr>
        <p:txBody>
          <a:bodyPr wrap="square">
            <a:spAutoFit/>
          </a:bodyPr>
          <a:lstStyle/>
          <a:p>
            <a:pPr algn="ctr"/>
            <a:r>
              <a:rPr sz="4800" b="1" i="0">
                <a:solidFill>
                  <a:srgbClr val="E86B1A"/>
                </a:solidFill>
              </a:rPr>
              <a:t>CRAFT SNACKS</a:t>
            </a:r>
          </a:p>
        </p:txBody>
      </p:sp>
      <p:sp>
        <p:nvSpPr>
          <p:cNvPr id="5" name="TextBox 4"/>
          <p:cNvSpPr txBox="1"/>
          <p:nvPr/>
        </p:nvSpPr>
        <p:spPr>
          <a:xfrm>
            <a:off x="914400" y="1920240"/>
            <a:ext cx="10360152" cy="822960"/>
          </a:xfrm>
          <a:prstGeom prst="rect">
            <a:avLst/>
          </a:prstGeom>
          <a:noFill/>
        </p:spPr>
        <p:txBody>
          <a:bodyPr wrap="square">
            <a:spAutoFit/>
          </a:bodyPr>
          <a:lstStyle/>
          <a:p>
            <a:pPr algn="ctr"/>
            <a:r>
              <a:rPr sz="3000" b="1" i="0">
                <a:solidFill>
                  <a:srgbClr val="FFFFFF"/>
                </a:solidFill>
              </a:rPr>
              <a:t>Growth Initiative: Crafting a Growth Loop</a:t>
            </a:r>
          </a:p>
        </p:txBody>
      </p:sp>
      <p:sp>
        <p:nvSpPr>
          <p:cNvPr id="6" name="TextBox 5"/>
          <p:cNvSpPr txBox="1"/>
          <p:nvPr/>
        </p:nvSpPr>
        <p:spPr>
          <a:xfrm>
            <a:off x="914400" y="3108960"/>
            <a:ext cx="10360152" cy="548640"/>
          </a:xfrm>
          <a:prstGeom prst="rect">
            <a:avLst/>
          </a:prstGeom>
          <a:noFill/>
        </p:spPr>
        <p:txBody>
          <a:bodyPr wrap="square">
            <a:spAutoFit/>
          </a:bodyPr>
          <a:lstStyle/>
          <a:p>
            <a:pPr algn="ctr"/>
            <a:r>
              <a:rPr sz="1800" b="0" i="0">
                <a:solidFill>
                  <a:srgbClr val="CCEEEE"/>
                </a:solidFill>
              </a:rPr>
              <a:t>User Acquisition &amp; Sustainable Growth Plan</a:t>
            </a:r>
          </a:p>
        </p:txBody>
      </p:sp>
      <p:sp>
        <p:nvSpPr>
          <p:cNvPr id="7" name="TextBox 6"/>
          <p:cNvSpPr txBox="1"/>
          <p:nvPr/>
        </p:nvSpPr>
        <p:spPr>
          <a:xfrm>
            <a:off x="914400" y="3931920"/>
            <a:ext cx="10360152" cy="457200"/>
          </a:xfrm>
          <a:prstGeom prst="rect">
            <a:avLst/>
          </a:prstGeom>
          <a:noFill/>
        </p:spPr>
        <p:txBody>
          <a:bodyPr wrap="square">
            <a:spAutoFit/>
          </a:bodyPr>
          <a:lstStyle/>
          <a:p>
            <a:pPr algn="ctr"/>
            <a:r>
              <a:rPr sz="1400" b="0" i="0">
                <a:solidFill>
                  <a:srgbClr val="AADDDD"/>
                </a:solidFill>
              </a:rPr>
              <a:t>Presented by: Christopher O'Hara | Growth Product Manager</a:t>
            </a:r>
          </a:p>
        </p:txBody>
      </p:sp>
      <p:sp>
        <p:nvSpPr>
          <p:cNvPr id="8" name="TextBox 7"/>
          <p:cNvSpPr txBox="1"/>
          <p:nvPr/>
        </p:nvSpPr>
        <p:spPr>
          <a:xfrm>
            <a:off x="914400" y="4572000"/>
            <a:ext cx="10360152" cy="457200"/>
          </a:xfrm>
          <a:prstGeom prst="rect">
            <a:avLst/>
          </a:prstGeom>
          <a:noFill/>
        </p:spPr>
        <p:txBody>
          <a:bodyPr wrap="square">
            <a:spAutoFit/>
          </a:bodyPr>
          <a:lstStyle/>
          <a:p>
            <a:pPr algn="ctr"/>
            <a:r>
              <a:rPr sz="1300" b="0" i="1">
                <a:solidFill>
                  <a:srgbClr val="88BBBB"/>
                </a:solidFill>
              </a:rPr>
              <a:t>Strategic Planning Stakeholders: Marketing · Operations · Support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0"/>
            <a:ext cx="10972800" cy="914400"/>
          </a:xfrm>
          <a:prstGeom prst="rect">
            <a:avLst/>
          </a:prstGeom>
          <a:noFill/>
        </p:spPr>
        <p:txBody>
          <a:bodyPr wrap="square">
            <a:spAutoFit/>
          </a:bodyPr>
          <a:lstStyle/>
          <a:p>
            <a:pPr algn="ctr"/>
            <a:r>
              <a:rPr sz="2200" b="1" i="0">
                <a:solidFill>
                  <a:srgbClr val="E86B1A"/>
                </a:solidFill>
              </a:rPr>
              <a:t>PART 1</a:t>
            </a:r>
          </a:p>
        </p:txBody>
      </p:sp>
      <p:sp>
        <p:nvSpPr>
          <p:cNvPr id="4" name="TextBox 3"/>
          <p:cNvSpPr txBox="1"/>
          <p:nvPr/>
        </p:nvSpPr>
        <p:spPr>
          <a:xfrm>
            <a:off x="457200" y="2560320"/>
            <a:ext cx="10972800" cy="1371600"/>
          </a:xfrm>
          <a:prstGeom prst="rect">
            <a:avLst/>
          </a:prstGeom>
          <a:noFill/>
        </p:spPr>
        <p:txBody>
          <a:bodyPr wrap="square">
            <a:spAutoFit/>
          </a:bodyPr>
          <a:lstStyle/>
          <a:p>
            <a:pPr algn="ctr"/>
            <a:r>
              <a:rPr sz="4200" b="1" i="0">
                <a:solidFill>
                  <a:srgbClr val="FFFFFF"/>
                </a:solidFill>
              </a:rPr>
              <a:t>Inspecting the Landscape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Business Goal and Product Strategy</a:t>
            </a:r>
          </a:p>
        </p:txBody>
      </p:sp>
      <p:sp>
        <p:nvSpPr>
          <p:cNvPr id="4" name="Rectangle 3"/>
          <p:cNvSpPr/>
          <p:nvPr/>
        </p:nvSpPr>
        <p:spPr>
          <a:xfrm>
            <a:off x="274320" y="1188720"/>
            <a:ext cx="5394960" cy="52120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234440"/>
            <a:ext cx="5029200" cy="457200"/>
          </a:xfrm>
          <a:prstGeom prst="rect">
            <a:avLst/>
          </a:prstGeom>
          <a:noFill/>
        </p:spPr>
        <p:txBody>
          <a:bodyPr wrap="square">
            <a:spAutoFit/>
          </a:bodyPr>
          <a:lstStyle/>
          <a:p>
            <a:pPr algn="l"/>
            <a:r>
              <a:rPr sz="1400" b="1" i="0">
                <a:solidFill>
                  <a:srgbClr val="005F5F"/>
                </a:solidFill>
              </a:rPr>
              <a:t>BUSINESS GOAL</a:t>
            </a:r>
          </a:p>
        </p:txBody>
      </p:sp>
      <p:sp>
        <p:nvSpPr>
          <p:cNvPr id="6" name="TextBox 5"/>
          <p:cNvSpPr txBox="1"/>
          <p:nvPr/>
        </p:nvSpPr>
        <p:spPr>
          <a:xfrm>
            <a:off x="457200" y="1737360"/>
            <a:ext cx="5029200" cy="4389120"/>
          </a:xfrm>
          <a:prstGeom prst="rect">
            <a:avLst/>
          </a:prstGeom>
          <a:noFill/>
        </p:spPr>
        <p:txBody>
          <a:bodyPr wrap="square">
            <a:spAutoFit/>
          </a:bodyPr>
          <a:lstStyle/>
          <a:p>
            <a:pPr algn="l"/>
            <a:r>
              <a:rPr sz="1400">
                <a:solidFill>
                  <a:srgbClr val="1A1A2E"/>
                </a:solidFill>
              </a:rPr>
              <a:t>Achieve 20% month-over-month growth in</a:t>
            </a:r>
          </a:p>
          <a:p>
            <a:pPr algn="l"/>
            <a:r>
              <a:rPr sz="1400">
                <a:solidFill>
                  <a:srgbClr val="1A1A2E"/>
                </a:solidFill>
              </a:rPr>
              <a:t>new monthly subscribed users over the</a:t>
            </a:r>
          </a:p>
          <a:p>
            <a:pPr algn="l"/>
            <a:r>
              <a:rPr sz="1400">
                <a:solidFill>
                  <a:srgbClr val="1A1A2E"/>
                </a:solidFill>
              </a:rPr>
              <a:t>next quarter.</a:t>
            </a:r>
          </a:p>
          <a:p>
            <a:pPr algn="l"/>
            <a:endParaRPr sz="1400">
              <a:solidFill>
                <a:srgbClr val="1A1A2E"/>
              </a:solidFill>
            </a:endParaRPr>
          </a:p>
          <a:p>
            <a:pPr algn="l"/>
            <a:r>
              <a:rPr sz="1400">
                <a:solidFill>
                  <a:srgbClr val="1A1A2E"/>
                </a:solidFill>
              </a:rPr>
              <a:t>Current baseline: 2,100 new subscribers/month</a:t>
            </a:r>
          </a:p>
          <a:p>
            <a:pPr algn="l"/>
            <a:r>
              <a:rPr sz="1400">
                <a:solidFill>
                  <a:srgbClr val="1A1A2E"/>
                </a:solidFill>
              </a:rPr>
              <a:t>Target by end of Q3: ~3,629/month</a:t>
            </a:r>
          </a:p>
          <a:p>
            <a:pPr algn="l"/>
            <a:r>
              <a:rPr sz="1400">
                <a:solidFill>
                  <a:srgbClr val="1A1A2E"/>
                </a:solidFill>
              </a:rPr>
              <a:t>  (2,100 × 1.20³ ≈ 3,629)</a:t>
            </a:r>
          </a:p>
          <a:p>
            <a:pPr algn="l"/>
            <a:endParaRPr sz="1400">
              <a:solidFill>
                <a:srgbClr val="1A1A2E"/>
              </a:solidFill>
            </a:endParaRPr>
          </a:p>
          <a:p>
            <a:pPr algn="l"/>
            <a:r>
              <a:rPr sz="1400">
                <a:solidFill>
                  <a:srgbClr val="1A1A2E"/>
                </a:solidFill>
              </a:rPr>
              <a:t>The business seeks SUSTAINABLE growth :</a:t>
            </a:r>
          </a:p>
          <a:p>
            <a:pPr algn="l"/>
            <a:r>
              <a:rPr sz="1400">
                <a:solidFill>
                  <a:srgbClr val="1A1A2E"/>
                </a:solidFill>
              </a:rPr>
              <a:t>compounding acquisition over time, not a</a:t>
            </a:r>
          </a:p>
          <a:p>
            <a:pPr algn="l"/>
            <a:r>
              <a:rPr sz="1400">
                <a:solidFill>
                  <a:srgbClr val="1A1A2E"/>
                </a:solidFill>
              </a:rPr>
              <a:t>one-time spike.</a:t>
            </a:r>
          </a:p>
        </p:txBody>
      </p:sp>
      <p:sp>
        <p:nvSpPr>
          <p:cNvPr id="7" name="Rectangle 6"/>
          <p:cNvSpPr/>
          <p:nvPr/>
        </p:nvSpPr>
        <p:spPr>
          <a:xfrm>
            <a:off x="6217920" y="1188720"/>
            <a:ext cx="5669280" cy="5212080"/>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234440"/>
            <a:ext cx="5303520" cy="457200"/>
          </a:xfrm>
          <a:prstGeom prst="rect">
            <a:avLst/>
          </a:prstGeom>
          <a:noFill/>
        </p:spPr>
        <p:txBody>
          <a:bodyPr wrap="square">
            <a:spAutoFit/>
          </a:bodyPr>
          <a:lstStyle/>
          <a:p>
            <a:pPr algn="l"/>
            <a:r>
              <a:rPr sz="1400" b="1" i="0">
                <a:solidFill>
                  <a:srgbClr val="005F5F"/>
                </a:solidFill>
              </a:rPr>
              <a:t>PRODUCT STRATEGY</a:t>
            </a:r>
          </a:p>
        </p:txBody>
      </p:sp>
      <p:sp>
        <p:nvSpPr>
          <p:cNvPr id="9" name="TextBox 8"/>
          <p:cNvSpPr txBox="1"/>
          <p:nvPr/>
        </p:nvSpPr>
        <p:spPr>
          <a:xfrm>
            <a:off x="6400800" y="1737360"/>
            <a:ext cx="5303520" cy="4389120"/>
          </a:xfrm>
          <a:prstGeom prst="rect">
            <a:avLst/>
          </a:prstGeom>
          <a:noFill/>
        </p:spPr>
        <p:txBody>
          <a:bodyPr wrap="square">
            <a:spAutoFit/>
          </a:bodyPr>
          <a:lstStyle/>
          <a:p>
            <a:pPr algn="l"/>
            <a:r>
              <a:rPr sz="1400">
                <a:solidFill>
                  <a:srgbClr val="1A1A2E"/>
                </a:solidFill>
              </a:rPr>
              <a:t>Create viral growth by leveraging the</a:t>
            </a:r>
          </a:p>
          <a:p>
            <a:pPr algn="l"/>
            <a:r>
              <a:rPr sz="1400">
                <a:solidFill>
                  <a:srgbClr val="1A1A2E"/>
                </a:solidFill>
              </a:rPr>
              <a:t>existing customer network.</a:t>
            </a:r>
          </a:p>
          <a:p>
            <a:pPr algn="l"/>
            <a:endParaRPr sz="1400">
              <a:solidFill>
                <a:srgbClr val="1A1A2E"/>
              </a:solidFill>
            </a:endParaRPr>
          </a:p>
          <a:p>
            <a:pPr algn="l"/>
            <a:r>
              <a:rPr sz="1400">
                <a:solidFill>
                  <a:srgbClr val="1A1A2E"/>
                </a:solidFill>
              </a:rPr>
              <a:t>What this means for EXISTING customers:</a:t>
            </a:r>
          </a:p>
          <a:p>
            <a:pPr algn="l"/>
            <a:r>
              <a:rPr sz="1400">
                <a:solidFill>
                  <a:srgbClr val="1A1A2E"/>
                </a:solidFill>
              </a:rPr>
              <a:t>  • Engage them with the product in a</a:t>
            </a:r>
          </a:p>
          <a:p>
            <a:pPr algn="l"/>
            <a:r>
              <a:rPr sz="1400">
                <a:solidFill>
                  <a:srgbClr val="1A1A2E"/>
                </a:solidFill>
              </a:rPr>
              <a:t>    meaningful, shareable way</a:t>
            </a:r>
          </a:p>
          <a:p>
            <a:pPr algn="l"/>
            <a:r>
              <a:rPr sz="1400">
                <a:solidFill>
                  <a:srgbClr val="1A1A2E"/>
                </a:solidFill>
              </a:rPr>
              <a:t>  • Amplify their natural enthusiasm and</a:t>
            </a:r>
          </a:p>
          <a:p>
            <a:pPr algn="l"/>
            <a:r>
              <a:rPr sz="1400">
                <a:solidFill>
                  <a:srgbClr val="1A1A2E"/>
                </a:solidFill>
              </a:rPr>
              <a:t>    sharing behavior (36% already share)</a:t>
            </a:r>
          </a:p>
          <a:p>
            <a:pPr algn="l"/>
            <a:endParaRPr sz="1400">
              <a:solidFill>
                <a:srgbClr val="1A1A2E"/>
              </a:solidFill>
            </a:endParaRPr>
          </a:p>
          <a:p>
            <a:pPr algn="l"/>
            <a:r>
              <a:rPr sz="1400">
                <a:solidFill>
                  <a:srgbClr val="1A1A2E"/>
                </a:solidFill>
              </a:rPr>
              <a:t>What this means for POTENTIAL customers:</a:t>
            </a:r>
          </a:p>
          <a:p>
            <a:pPr algn="l"/>
            <a:r>
              <a:rPr sz="1400">
                <a:solidFill>
                  <a:srgbClr val="1A1A2E"/>
                </a:solidFill>
              </a:rPr>
              <a:t>  • Help new visitors realize product value</a:t>
            </a:r>
          </a:p>
          <a:p>
            <a:pPr algn="l"/>
            <a:r>
              <a:rPr sz="1400">
                <a:solidFill>
                  <a:srgbClr val="1A1A2E"/>
                </a:solidFill>
              </a:rPr>
              <a:t>    faster through authentic peer voices</a:t>
            </a:r>
          </a:p>
          <a:p>
            <a:pPr algn="l"/>
            <a:r>
              <a:rPr sz="1400">
                <a:solidFill>
                  <a:srgbClr val="1A1A2E"/>
                </a:solidFill>
              </a:rPr>
              <a:t>  • Build trust through social proof to</a:t>
            </a:r>
          </a:p>
          <a:p>
            <a:pPr algn="l"/>
            <a:r>
              <a:rPr sz="1400">
                <a:solidFill>
                  <a:srgbClr val="1A1A2E"/>
                </a:solidFill>
              </a:rPr>
              <a:t>    overcome quality and reliability concerns</a:t>
            </a:r>
          </a:p>
          <a:p>
            <a:pPr algn="l"/>
            <a:endParaRPr sz="1400">
              <a:solidFill>
                <a:srgbClr val="1A1A2E"/>
              </a:solidFill>
            </a:endParaRPr>
          </a:p>
          <a:p>
            <a:pPr algn="l"/>
            <a:r>
              <a:rPr sz="1400">
                <a:solidFill>
                  <a:srgbClr val="1A1A2E"/>
                </a:solidFill>
              </a:rPr>
              <a:t>Core mechanism: existing customers become</a:t>
            </a:r>
          </a:p>
          <a:p>
            <a:pPr algn="l"/>
            <a:r>
              <a:rPr sz="1400">
                <a:solidFill>
                  <a:srgbClr val="1A1A2E"/>
                </a:solidFill>
              </a:rPr>
              <a:t>a viral acquisition engine for new ones.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Components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AARRR Framework Analysis</a:t>
            </a:r>
          </a:p>
        </p:txBody>
      </p:sp>
      <p:sp>
        <p:nvSpPr>
          <p:cNvPr id="5" name="Rectangle 4"/>
          <p:cNvSpPr/>
          <p:nvPr/>
        </p:nvSpPr>
        <p:spPr>
          <a:xfrm>
            <a:off x="274320" y="1143000"/>
            <a:ext cx="2194560" cy="4114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188720"/>
            <a:ext cx="2103120" cy="347472"/>
          </a:xfrm>
          <a:prstGeom prst="rect">
            <a:avLst/>
          </a:prstGeom>
          <a:noFill/>
        </p:spPr>
        <p:txBody>
          <a:bodyPr wrap="square">
            <a:spAutoFit/>
          </a:bodyPr>
          <a:lstStyle/>
          <a:p>
            <a:pPr algn="ctr"/>
            <a:r>
              <a:rPr sz="1100" b="1" i="0">
                <a:solidFill>
                  <a:srgbClr val="FFFFFF"/>
                </a:solidFill>
              </a:rPr>
              <a:t>ACQUISITION</a:t>
            </a:r>
          </a:p>
        </p:txBody>
      </p:sp>
      <p:sp>
        <p:nvSpPr>
          <p:cNvPr id="7" name="Rectangle 6"/>
          <p:cNvSpPr/>
          <p:nvPr/>
        </p:nvSpPr>
        <p:spPr>
          <a:xfrm>
            <a:off x="274320" y="1554480"/>
            <a:ext cx="2194560" cy="4937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600200"/>
            <a:ext cx="2057400" cy="4754880"/>
          </a:xfrm>
          <a:prstGeom prst="rect">
            <a:avLst/>
          </a:prstGeom>
          <a:noFill/>
        </p:spPr>
        <p:txBody>
          <a:bodyPr wrap="square">
            <a:spAutoFit/>
          </a:bodyPr>
          <a:lstStyle/>
          <a:p>
            <a:pPr algn="l"/>
            <a:r>
              <a:rPr sz="1100">
                <a:solidFill>
                  <a:srgbClr val="1A1A2E"/>
                </a:solidFill>
              </a:rPr>
              <a:t>How users discover Craft Snacks:</a:t>
            </a:r>
          </a:p>
          <a:p>
            <a:pPr algn="l"/>
            <a:r>
              <a:rPr sz="1100">
                <a:solidFill>
                  <a:srgbClr val="1A1A2E"/>
                </a:solidFill>
              </a:rPr>
              <a:t>• Online ads: 55% of new visitors</a:t>
            </a:r>
          </a:p>
          <a:p>
            <a:pPr algn="l"/>
            <a:r>
              <a:rPr sz="1100">
                <a:solidFill>
                  <a:srgbClr val="1A1A2E"/>
                </a:solidFill>
              </a:rPr>
              <a:t>• Search engine results: 27%</a:t>
            </a:r>
          </a:p>
          <a:p>
            <a:pPr algn="l"/>
            <a:r>
              <a:rPr sz="1100">
                <a:solidFill>
                  <a:srgbClr val="1A1A2E"/>
                </a:solidFill>
              </a:rPr>
              <a:t>• Social media sharing: 18%</a:t>
            </a:r>
          </a:p>
          <a:p>
            <a:pPr algn="l"/>
            <a:endParaRPr sz="1100">
              <a:solidFill>
                <a:srgbClr val="1A1A2E"/>
              </a:solidFill>
            </a:endParaRPr>
          </a:p>
          <a:p>
            <a:pPr algn="l"/>
            <a:r>
              <a:rPr sz="1100">
                <a:solidFill>
                  <a:srgbClr val="1A1A2E"/>
                </a:solidFill>
              </a:rPr>
              <a:t>Metric:</a:t>
            </a:r>
          </a:p>
          <a:p>
            <a:pPr algn="l"/>
            <a:r>
              <a:rPr sz="1100">
                <a:solidFill>
                  <a:srgbClr val="1A1A2E"/>
                </a:solidFill>
              </a:rPr>
              <a:t>• New Visitor Sessions</a:t>
            </a:r>
          </a:p>
          <a:p>
            <a:pPr algn="l"/>
            <a:r>
              <a:rPr sz="1100">
                <a:solidFill>
                  <a:srgbClr val="1A1A2E"/>
                </a:solidFill>
              </a:rPr>
              <a:t>  70,000 / month</a:t>
            </a:r>
          </a:p>
        </p:txBody>
      </p:sp>
      <p:sp>
        <p:nvSpPr>
          <p:cNvPr id="9" name="Rectangle 8"/>
          <p:cNvSpPr/>
          <p:nvPr/>
        </p:nvSpPr>
        <p:spPr>
          <a:xfrm>
            <a:off x="2578608" y="1143000"/>
            <a:ext cx="2194560" cy="411480"/>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624327" y="1188720"/>
            <a:ext cx="2103120" cy="347472"/>
          </a:xfrm>
          <a:prstGeom prst="rect">
            <a:avLst/>
          </a:prstGeom>
          <a:noFill/>
        </p:spPr>
        <p:txBody>
          <a:bodyPr wrap="square">
            <a:spAutoFit/>
          </a:bodyPr>
          <a:lstStyle/>
          <a:p>
            <a:pPr algn="ctr"/>
            <a:r>
              <a:rPr sz="1100" b="1" i="0">
                <a:solidFill>
                  <a:srgbClr val="FFFFFF"/>
                </a:solidFill>
              </a:rPr>
              <a:t>ACTIVATION</a:t>
            </a:r>
          </a:p>
        </p:txBody>
      </p:sp>
      <p:sp>
        <p:nvSpPr>
          <p:cNvPr id="11" name="Rectangle 10"/>
          <p:cNvSpPr/>
          <p:nvPr/>
        </p:nvSpPr>
        <p:spPr>
          <a:xfrm>
            <a:off x="2578608" y="1554480"/>
            <a:ext cx="2194560" cy="4937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70048" y="1600200"/>
            <a:ext cx="2057400" cy="4754880"/>
          </a:xfrm>
          <a:prstGeom prst="rect">
            <a:avLst/>
          </a:prstGeom>
          <a:noFill/>
        </p:spPr>
        <p:txBody>
          <a:bodyPr wrap="square">
            <a:spAutoFit/>
          </a:bodyPr>
          <a:lstStyle/>
          <a:p>
            <a:pPr algn="l"/>
            <a:r>
              <a:rPr sz="1100">
                <a:solidFill>
                  <a:srgbClr val="1A1A2E"/>
                </a:solidFill>
              </a:rPr>
              <a:t>How visitors become subscribers:</a:t>
            </a:r>
          </a:p>
          <a:p>
            <a:pPr algn="l"/>
            <a:r>
              <a:rPr sz="1100">
                <a:solidFill>
                  <a:srgbClr val="1A1A2E"/>
                </a:solidFill>
              </a:rPr>
              <a:t>• Land on the website landing page</a:t>
            </a:r>
          </a:p>
          <a:p>
            <a:pPr algn="l"/>
            <a:r>
              <a:rPr sz="1100">
                <a:solidFill>
                  <a:srgbClr val="1A1A2E"/>
                </a:solidFill>
              </a:rPr>
              <a:t>• Learn about the value proposition</a:t>
            </a:r>
          </a:p>
          <a:p>
            <a:pPr algn="l"/>
            <a:r>
              <a:rPr sz="1100">
                <a:solidFill>
                  <a:srgbClr val="1A1A2E"/>
                </a:solidFill>
              </a:rPr>
              <a:t>• Sign up for $30/month subscription</a:t>
            </a:r>
          </a:p>
          <a:p>
            <a:pPr algn="l"/>
            <a:endParaRPr sz="1100">
              <a:solidFill>
                <a:srgbClr val="1A1A2E"/>
              </a:solidFill>
            </a:endParaRPr>
          </a:p>
          <a:p>
            <a:pPr algn="l"/>
            <a:r>
              <a:rPr sz="1100">
                <a:solidFill>
                  <a:srgbClr val="1A1A2E"/>
                </a:solidFill>
              </a:rPr>
              <a:t>Metrics:</a:t>
            </a:r>
          </a:p>
          <a:p>
            <a:pPr algn="l"/>
            <a:r>
              <a:rPr sz="1100">
                <a:solidFill>
                  <a:srgbClr val="1A1A2E"/>
                </a:solidFill>
              </a:rPr>
              <a:t>• New Visitor Conversion Rate: 3%</a:t>
            </a:r>
          </a:p>
          <a:p>
            <a:pPr algn="l"/>
            <a:r>
              <a:rPr sz="1100">
                <a:solidFill>
                  <a:srgbClr val="1A1A2E"/>
                </a:solidFill>
              </a:rPr>
              <a:t>• New Monthly Subscribed Users: 2,100</a:t>
            </a:r>
          </a:p>
        </p:txBody>
      </p:sp>
      <p:sp>
        <p:nvSpPr>
          <p:cNvPr id="13" name="Rectangle 12"/>
          <p:cNvSpPr/>
          <p:nvPr/>
        </p:nvSpPr>
        <p:spPr>
          <a:xfrm>
            <a:off x="4882896" y="1143000"/>
            <a:ext cx="2194560" cy="41148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28616" y="1188720"/>
            <a:ext cx="2103120" cy="347472"/>
          </a:xfrm>
          <a:prstGeom prst="rect">
            <a:avLst/>
          </a:prstGeom>
          <a:noFill/>
        </p:spPr>
        <p:txBody>
          <a:bodyPr wrap="square">
            <a:spAutoFit/>
          </a:bodyPr>
          <a:lstStyle/>
          <a:p>
            <a:pPr algn="ctr"/>
            <a:r>
              <a:rPr sz="1100" b="1" i="0">
                <a:solidFill>
                  <a:srgbClr val="FFFFFF"/>
                </a:solidFill>
              </a:rPr>
              <a:t>RETENTION</a:t>
            </a:r>
          </a:p>
        </p:txBody>
      </p:sp>
      <p:sp>
        <p:nvSpPr>
          <p:cNvPr id="15" name="Rectangle 14"/>
          <p:cNvSpPr/>
          <p:nvPr/>
        </p:nvSpPr>
        <p:spPr>
          <a:xfrm>
            <a:off x="4882896" y="1554480"/>
            <a:ext cx="2194560" cy="4937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974336" y="1600200"/>
            <a:ext cx="2057400" cy="4754880"/>
          </a:xfrm>
          <a:prstGeom prst="rect">
            <a:avLst/>
          </a:prstGeom>
          <a:noFill/>
        </p:spPr>
        <p:txBody>
          <a:bodyPr wrap="square">
            <a:spAutoFit/>
          </a:bodyPr>
          <a:lstStyle/>
          <a:p>
            <a:pPr algn="l"/>
            <a:r>
              <a:rPr sz="1100">
                <a:solidFill>
                  <a:srgbClr val="1A1A2E"/>
                </a:solidFill>
              </a:rPr>
              <a:t>How customers stay engaged:</a:t>
            </a:r>
          </a:p>
          <a:p>
            <a:pPr algn="l"/>
            <a:r>
              <a:rPr sz="1100">
                <a:solidFill>
                  <a:srgbClr val="1A1A2E"/>
                </a:solidFill>
              </a:rPr>
              <a:t>• Adjust monthly snack theme (65% of MAU)</a:t>
            </a:r>
          </a:p>
          <a:p>
            <a:pPr algn="l"/>
            <a:r>
              <a:rPr sz="1100">
                <a:solidFill>
                  <a:srgbClr val="1A1A2E"/>
                </a:solidFill>
              </a:rPr>
              <a:t>• Write &amp; share reviews (48% of MAU)</a:t>
            </a:r>
          </a:p>
          <a:p>
            <a:pPr algn="l"/>
            <a:r>
              <a:rPr sz="1100">
                <a:solidFill>
                  <a:srgbClr val="1A1A2E"/>
                </a:solidFill>
              </a:rPr>
              <a:t>• Track order status (17% of MAU)</a:t>
            </a:r>
          </a:p>
          <a:p>
            <a:pPr algn="l"/>
            <a:endParaRPr sz="1100">
              <a:solidFill>
                <a:srgbClr val="1A1A2E"/>
              </a:solidFill>
            </a:endParaRPr>
          </a:p>
          <a:p>
            <a:pPr algn="l"/>
            <a:r>
              <a:rPr sz="1100">
                <a:solidFill>
                  <a:srgbClr val="1A1A2E"/>
                </a:solidFill>
              </a:rPr>
              <a:t>Metric:</a:t>
            </a:r>
          </a:p>
          <a:p>
            <a:pPr algn="l"/>
            <a:r>
              <a:rPr sz="1100">
                <a:solidFill>
                  <a:srgbClr val="1A1A2E"/>
                </a:solidFill>
              </a:rPr>
              <a:t>• Monthly Active Users: 30%</a:t>
            </a:r>
          </a:p>
          <a:p>
            <a:pPr algn="l"/>
            <a:r>
              <a:rPr sz="1100">
                <a:solidFill>
                  <a:srgbClr val="1A1A2E"/>
                </a:solidFill>
              </a:rPr>
              <a:t>  (= ~36,000 active/month)</a:t>
            </a:r>
          </a:p>
        </p:txBody>
      </p:sp>
      <p:sp>
        <p:nvSpPr>
          <p:cNvPr id="17" name="Rectangle 16"/>
          <p:cNvSpPr/>
          <p:nvPr/>
        </p:nvSpPr>
        <p:spPr>
          <a:xfrm>
            <a:off x="7187184" y="1143000"/>
            <a:ext cx="2194560" cy="411480"/>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32904" y="1188720"/>
            <a:ext cx="2103120" cy="347472"/>
          </a:xfrm>
          <a:prstGeom prst="rect">
            <a:avLst/>
          </a:prstGeom>
          <a:noFill/>
        </p:spPr>
        <p:txBody>
          <a:bodyPr wrap="square">
            <a:spAutoFit/>
          </a:bodyPr>
          <a:lstStyle/>
          <a:p>
            <a:pPr algn="ctr"/>
            <a:r>
              <a:rPr sz="1100" b="1" i="0">
                <a:solidFill>
                  <a:srgbClr val="FFFFFF"/>
                </a:solidFill>
              </a:rPr>
              <a:t>REFERRAL</a:t>
            </a:r>
          </a:p>
        </p:txBody>
      </p:sp>
      <p:sp>
        <p:nvSpPr>
          <p:cNvPr id="19" name="Rectangle 18"/>
          <p:cNvSpPr/>
          <p:nvPr/>
        </p:nvSpPr>
        <p:spPr>
          <a:xfrm>
            <a:off x="7187184" y="1554480"/>
            <a:ext cx="2194560" cy="4937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278624" y="1600200"/>
            <a:ext cx="2057400" cy="4754880"/>
          </a:xfrm>
          <a:prstGeom prst="rect">
            <a:avLst/>
          </a:prstGeom>
          <a:noFill/>
        </p:spPr>
        <p:txBody>
          <a:bodyPr wrap="square">
            <a:spAutoFit/>
          </a:bodyPr>
          <a:lstStyle/>
          <a:p>
            <a:pPr algn="l"/>
            <a:r>
              <a:rPr sz="1100">
                <a:solidFill>
                  <a:srgbClr val="1A1A2E"/>
                </a:solidFill>
              </a:rPr>
              <a:t>How customers share Craft Snacks:</a:t>
            </a:r>
          </a:p>
          <a:p>
            <a:pPr algn="l"/>
            <a:r>
              <a:rPr sz="1100">
                <a:solidFill>
                  <a:srgbClr val="1A1A2E"/>
                </a:solidFill>
              </a:rPr>
              <a:t>• Post snack box photos on social media</a:t>
            </a:r>
          </a:p>
          <a:p>
            <a:pPr algn="l"/>
            <a:r>
              <a:rPr sz="1100">
                <a:solidFill>
                  <a:srgbClr val="1A1A2E"/>
                </a:solidFill>
              </a:rPr>
              <a:t>  (Instagram, Facebook, etc.)</a:t>
            </a:r>
          </a:p>
          <a:p>
            <a:pPr algn="l"/>
            <a:r>
              <a:rPr sz="1100">
                <a:solidFill>
                  <a:srgbClr val="1A1A2E"/>
                </a:solidFill>
              </a:rPr>
              <a:t>• 36% of customers share spontaneously</a:t>
            </a:r>
          </a:p>
          <a:p>
            <a:pPr algn="l"/>
            <a:endParaRPr sz="1100">
              <a:solidFill>
                <a:srgbClr val="1A1A2E"/>
              </a:solidFill>
            </a:endParaRPr>
          </a:p>
          <a:p>
            <a:pPr algn="l"/>
            <a:r>
              <a:rPr sz="1100">
                <a:solidFill>
                  <a:srgbClr val="1A1A2E"/>
                </a:solidFill>
              </a:rPr>
              <a:t>Metric:</a:t>
            </a:r>
          </a:p>
          <a:p>
            <a:pPr algn="l"/>
            <a:r>
              <a:rPr sz="1100">
                <a:solidFill>
                  <a:srgbClr val="1A1A2E"/>
                </a:solidFill>
              </a:rPr>
              <a:t>• Social media as acquisition channel</a:t>
            </a:r>
          </a:p>
          <a:p>
            <a:pPr algn="l"/>
            <a:r>
              <a:rPr sz="1100">
                <a:solidFill>
                  <a:srgbClr val="1A1A2E"/>
                </a:solidFill>
              </a:rPr>
              <a:t>  currently = 18% of new visitors</a:t>
            </a:r>
          </a:p>
          <a:p>
            <a:pPr algn="l"/>
            <a:r>
              <a:rPr sz="1100">
                <a:solidFill>
                  <a:srgbClr val="1A1A2E"/>
                </a:solidFill>
              </a:rPr>
              <a:t>• ~12,600 new visitors/month via social</a:t>
            </a:r>
          </a:p>
        </p:txBody>
      </p:sp>
      <p:sp>
        <p:nvSpPr>
          <p:cNvPr id="21" name="Rectangle 20"/>
          <p:cNvSpPr/>
          <p:nvPr/>
        </p:nvSpPr>
        <p:spPr>
          <a:xfrm>
            <a:off x="9491472" y="1143000"/>
            <a:ext cx="2194560" cy="411480"/>
          </a:xfrm>
          <a:prstGeom prst="rect">
            <a:avLst/>
          </a:prstGeom>
          <a:solidFill>
            <a:srgbClr val="1A78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537192" y="1188720"/>
            <a:ext cx="2103120" cy="347472"/>
          </a:xfrm>
          <a:prstGeom prst="rect">
            <a:avLst/>
          </a:prstGeom>
          <a:noFill/>
        </p:spPr>
        <p:txBody>
          <a:bodyPr wrap="square">
            <a:spAutoFit/>
          </a:bodyPr>
          <a:lstStyle/>
          <a:p>
            <a:pPr algn="ctr"/>
            <a:r>
              <a:rPr sz="1100" b="1" i="0">
                <a:solidFill>
                  <a:srgbClr val="FFFFFF"/>
                </a:solidFill>
              </a:rPr>
              <a:t>REVENUE</a:t>
            </a:r>
          </a:p>
        </p:txBody>
      </p:sp>
      <p:sp>
        <p:nvSpPr>
          <p:cNvPr id="23" name="Rectangle 22"/>
          <p:cNvSpPr/>
          <p:nvPr/>
        </p:nvSpPr>
        <p:spPr>
          <a:xfrm>
            <a:off x="9491472" y="1554480"/>
            <a:ext cx="2194560" cy="493776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582912" y="1600200"/>
            <a:ext cx="2057400" cy="4754880"/>
          </a:xfrm>
          <a:prstGeom prst="rect">
            <a:avLst/>
          </a:prstGeom>
          <a:noFill/>
        </p:spPr>
        <p:txBody>
          <a:bodyPr wrap="square">
            <a:spAutoFit/>
          </a:bodyPr>
          <a:lstStyle/>
          <a:p>
            <a:pPr algn="l"/>
            <a:r>
              <a:rPr sz="1100">
                <a:solidFill>
                  <a:srgbClr val="1A1A2E"/>
                </a:solidFill>
              </a:rPr>
              <a:t>How Craft Snacks monetizes:</a:t>
            </a:r>
          </a:p>
          <a:p>
            <a:pPr algn="l"/>
            <a:r>
              <a:rPr sz="1100">
                <a:solidFill>
                  <a:srgbClr val="1A1A2E"/>
                </a:solidFill>
              </a:rPr>
              <a:t>• Monthly subscription: $30/month</a:t>
            </a:r>
          </a:p>
          <a:p>
            <a:pPr algn="l"/>
            <a:r>
              <a:rPr sz="1100">
                <a:solidFill>
                  <a:srgbClr val="1A1A2E"/>
                </a:solidFill>
              </a:rPr>
              <a:t>• Cancel anytime model</a:t>
            </a:r>
          </a:p>
          <a:p>
            <a:pPr algn="l"/>
            <a:endParaRPr sz="1100">
              <a:solidFill>
                <a:srgbClr val="1A1A2E"/>
              </a:solidFill>
            </a:endParaRPr>
          </a:p>
          <a:p>
            <a:pPr algn="l"/>
            <a:r>
              <a:rPr sz="1100">
                <a:solidFill>
                  <a:srgbClr val="1A1A2E"/>
                </a:solidFill>
              </a:rPr>
              <a:t>Metrics:</a:t>
            </a:r>
          </a:p>
          <a:p>
            <a:pPr algn="l"/>
            <a:r>
              <a:rPr sz="1100">
                <a:solidFill>
                  <a:srgbClr val="1A1A2E"/>
                </a:solidFill>
              </a:rPr>
              <a:t>• Monthly Subscribed Users: 120,000</a:t>
            </a:r>
          </a:p>
          <a:p>
            <a:pPr algn="l"/>
            <a:r>
              <a:rPr sz="1100">
                <a:solidFill>
                  <a:srgbClr val="1A1A2E"/>
                </a:solidFill>
              </a:rPr>
              <a:t>• Monthly Recurring Revenue:</a:t>
            </a:r>
          </a:p>
          <a:p>
            <a:pPr algn="l"/>
            <a:r>
              <a:rPr sz="1100">
                <a:solidFill>
                  <a:srgbClr val="1A1A2E"/>
                </a:solidFill>
              </a:rPr>
              <a:t>  ~$3.6M / month</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Metrics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Primary vs. Secondary Metrics</a:t>
            </a:r>
          </a:p>
        </p:txBody>
      </p:sp>
      <p:sp>
        <p:nvSpPr>
          <p:cNvPr id="5" name="Rectangle 4"/>
          <p:cNvSpPr/>
          <p:nvPr/>
        </p:nvSpPr>
        <p:spPr>
          <a:xfrm>
            <a:off x="274320" y="1143000"/>
            <a:ext cx="11640312" cy="411480"/>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70432"/>
            <a:ext cx="11338560" cy="347472"/>
          </a:xfrm>
          <a:prstGeom prst="rect">
            <a:avLst/>
          </a:prstGeom>
          <a:noFill/>
        </p:spPr>
        <p:txBody>
          <a:bodyPr wrap="square">
            <a:spAutoFit/>
          </a:bodyPr>
          <a:lstStyle/>
          <a:p>
            <a:pPr algn="l"/>
            <a:r>
              <a:rPr sz="1300" b="1" i="0">
                <a:solidFill>
                  <a:srgbClr val="FFFFFF"/>
                </a:solidFill>
              </a:rPr>
              <a:t>PRIMARY METRIC: Directly reflects the business goal</a:t>
            </a:r>
          </a:p>
        </p:txBody>
      </p:sp>
      <p:sp>
        <p:nvSpPr>
          <p:cNvPr id="7" name="Rectangle 6"/>
          <p:cNvSpPr/>
          <p:nvPr/>
        </p:nvSpPr>
        <p:spPr>
          <a:xfrm>
            <a:off x="274320" y="1554480"/>
            <a:ext cx="11640312" cy="77724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72768"/>
            <a:ext cx="11338560" cy="731520"/>
          </a:xfrm>
          <a:prstGeom prst="rect">
            <a:avLst/>
          </a:prstGeom>
          <a:noFill/>
        </p:spPr>
        <p:txBody>
          <a:bodyPr wrap="square">
            <a:spAutoFit/>
          </a:bodyPr>
          <a:lstStyle/>
          <a:p>
            <a:pPr algn="l"/>
            <a:r>
              <a:rPr sz="1400" b="0" i="0">
                <a:solidFill>
                  <a:srgbClr val="1A1A2E"/>
                </a:solidFill>
              </a:rPr>
              <a:t>New Monthly Subscribed Users  |  Baseline: 2,100/month  |  Target: 20% MoM growth  |  This is the one metric that directly tracks whether we are achieving the business goal.</a:t>
            </a:r>
          </a:p>
        </p:txBody>
      </p:sp>
      <p:sp>
        <p:nvSpPr>
          <p:cNvPr id="9" name="Rectangle 8"/>
          <p:cNvSpPr/>
          <p:nvPr/>
        </p:nvSpPr>
        <p:spPr>
          <a:xfrm>
            <a:off x="274320" y="2423160"/>
            <a:ext cx="5577840" cy="347472"/>
          </a:xfrm>
          <a:prstGeom prst="rect">
            <a:avLst/>
          </a:prstGeom>
          <a:solidFill>
            <a:srgbClr val="00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441448"/>
            <a:ext cx="5303520" cy="292608"/>
          </a:xfrm>
          <a:prstGeom prst="rect">
            <a:avLst/>
          </a:prstGeom>
          <a:noFill/>
        </p:spPr>
        <p:txBody>
          <a:bodyPr wrap="square">
            <a:spAutoFit/>
          </a:bodyPr>
          <a:lstStyle/>
          <a:p>
            <a:pPr algn="l"/>
            <a:r>
              <a:rPr sz="1200" b="1" i="0">
                <a:solidFill>
                  <a:srgbClr val="FFFFFF"/>
                </a:solidFill>
              </a:rPr>
              <a:t>UPSTREAM METRICS: Impact the Primary Metric</a:t>
            </a:r>
          </a:p>
        </p:txBody>
      </p:sp>
      <p:sp>
        <p:nvSpPr>
          <p:cNvPr id="11" name="TextBox 10"/>
          <p:cNvSpPr txBox="1"/>
          <p:nvPr/>
        </p:nvSpPr>
        <p:spPr>
          <a:xfrm>
            <a:off x="274320" y="2788920"/>
            <a:ext cx="5577840" cy="3474720"/>
          </a:xfrm>
          <a:prstGeom prst="rect">
            <a:avLst/>
          </a:prstGeom>
          <a:noFill/>
        </p:spPr>
        <p:txBody>
          <a:bodyPr wrap="square">
            <a:spAutoFit/>
          </a:bodyPr>
          <a:lstStyle/>
          <a:p>
            <a:pPr algn="l"/>
            <a:r>
              <a:rPr sz="1300">
                <a:solidFill>
                  <a:srgbClr val="1A1A2E"/>
                </a:solidFill>
              </a:rPr>
              <a:t>• New Visitor Sessions (70,000/month): More visitors = more potential sign-ups</a:t>
            </a:r>
          </a:p>
          <a:p>
            <a:pPr algn="l"/>
            <a:r>
              <a:rPr sz="1300">
                <a:solidFill>
                  <a:srgbClr val="1A1A2E"/>
                </a:solidFill>
              </a:rPr>
              <a:t>• New Visitor Conversion Rate (3%): Higher conversion = more new subscribers directly</a:t>
            </a:r>
          </a:p>
          <a:p>
            <a:pPr algn="l"/>
            <a:r>
              <a:rPr sz="1300">
                <a:solidFill>
                  <a:srgbClr val="1A1A2E"/>
                </a:solidFill>
              </a:rPr>
              <a:t>• Social Media Sharing Rate (18% of acquisition): More shares = more referral traffic = more visitors</a:t>
            </a:r>
          </a:p>
          <a:p>
            <a:pPr algn="l"/>
            <a:r>
              <a:rPr sz="1300">
                <a:solidFill>
                  <a:srgbClr val="1A1A2E"/>
                </a:solidFill>
              </a:rPr>
              <a:t>• % of Existing Customers Sharing on Social (36%): The raw engine feeding the referral channel</a:t>
            </a:r>
          </a:p>
        </p:txBody>
      </p:sp>
      <p:sp>
        <p:nvSpPr>
          <p:cNvPr id="12" name="Rectangle 11"/>
          <p:cNvSpPr/>
          <p:nvPr/>
        </p:nvSpPr>
        <p:spPr>
          <a:xfrm>
            <a:off x="6400800" y="2423160"/>
            <a:ext cx="5486400" cy="347472"/>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83680" y="2441448"/>
            <a:ext cx="5120640" cy="292608"/>
          </a:xfrm>
          <a:prstGeom prst="rect">
            <a:avLst/>
          </a:prstGeom>
          <a:noFill/>
        </p:spPr>
        <p:txBody>
          <a:bodyPr wrap="square">
            <a:spAutoFit/>
          </a:bodyPr>
          <a:lstStyle/>
          <a:p>
            <a:pPr algn="l"/>
            <a:r>
              <a:rPr sz="1200" b="1" i="0">
                <a:solidFill>
                  <a:srgbClr val="FFFFFF"/>
                </a:solidFill>
              </a:rPr>
              <a:t>DOWNSTREAM METRICS: Impacted by the Primary Metric</a:t>
            </a:r>
          </a:p>
        </p:txBody>
      </p:sp>
      <p:sp>
        <p:nvSpPr>
          <p:cNvPr id="14" name="TextBox 13"/>
          <p:cNvSpPr txBox="1"/>
          <p:nvPr/>
        </p:nvSpPr>
        <p:spPr>
          <a:xfrm>
            <a:off x="6400800" y="2788920"/>
            <a:ext cx="5486400" cy="3474720"/>
          </a:xfrm>
          <a:prstGeom prst="rect">
            <a:avLst/>
          </a:prstGeom>
          <a:noFill/>
        </p:spPr>
        <p:txBody>
          <a:bodyPr wrap="square">
            <a:spAutoFit/>
          </a:bodyPr>
          <a:lstStyle/>
          <a:p>
            <a:pPr algn="l"/>
            <a:r>
              <a:rPr sz="1300">
                <a:solidFill>
                  <a:srgbClr val="1A1A2E"/>
                </a:solidFill>
              </a:rPr>
              <a:t>• Monthly Subscribed Users (120,000 total): Grows as new subscribers accumulate</a:t>
            </a:r>
          </a:p>
          <a:p>
            <a:pPr algn="l"/>
            <a:r>
              <a:rPr sz="1300">
                <a:solidFill>
                  <a:srgbClr val="1A1A2E"/>
                </a:solidFill>
              </a:rPr>
              <a:t>• Monthly Active Users (30% MAU): More subscribers = larger active base</a:t>
            </a:r>
          </a:p>
          <a:p>
            <a:pPr algn="l"/>
            <a:r>
              <a:rPr sz="1300">
                <a:solidFill>
                  <a:srgbClr val="1A1A2E"/>
                </a:solidFill>
              </a:rPr>
              <a:t>• Review Writing Rate (48% of MAU): Active base drives more reviews = more social proof</a:t>
            </a:r>
          </a:p>
          <a:p>
            <a:pPr algn="l"/>
            <a:r>
              <a:rPr sz="1300">
                <a:solidFill>
                  <a:srgbClr val="1A1A2E"/>
                </a:solidFill>
              </a:rPr>
              <a:t>• Social Sharing Volume: More subscribers → more sharers → reinforces the loop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Target Persona</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Existing Customers &amp; Potential New Customers</a:t>
            </a:r>
          </a:p>
        </p:txBody>
      </p:sp>
      <p:sp>
        <p:nvSpPr>
          <p:cNvPr id="5" name="Rectangle 4"/>
          <p:cNvSpPr/>
          <p:nvPr/>
        </p:nvSpPr>
        <p:spPr>
          <a:xfrm>
            <a:off x="274320" y="1143000"/>
            <a:ext cx="5394960" cy="4114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5120640" cy="347472"/>
          </a:xfrm>
          <a:prstGeom prst="rect">
            <a:avLst/>
          </a:prstGeom>
          <a:noFill/>
        </p:spPr>
        <p:txBody>
          <a:bodyPr wrap="square">
            <a:spAutoFit/>
          </a:bodyPr>
          <a:lstStyle/>
          <a:p>
            <a:pPr algn="l"/>
            <a:r>
              <a:rPr sz="1300" b="1" i="0">
                <a:solidFill>
                  <a:srgbClr val="FFFFFF"/>
                </a:solidFill>
              </a:rPr>
              <a:t>EXISTING CUSTOMERS: The Experience Enthusiast</a:t>
            </a:r>
          </a:p>
        </p:txBody>
      </p:sp>
      <p:sp>
        <p:nvSpPr>
          <p:cNvPr id="7" name="TextBox 6"/>
          <p:cNvSpPr txBox="1"/>
          <p:nvPr/>
        </p:nvSpPr>
        <p:spPr>
          <a:xfrm>
            <a:off x="274320" y="1572768"/>
            <a:ext cx="5394960" cy="4937760"/>
          </a:xfrm>
          <a:prstGeom prst="rect">
            <a:avLst/>
          </a:prstGeom>
          <a:noFill/>
        </p:spPr>
        <p:txBody>
          <a:bodyPr wrap="square">
            <a:spAutoFit/>
          </a:bodyPr>
          <a:lstStyle/>
          <a:p>
            <a:pPr algn="l"/>
            <a:r>
              <a:rPr sz="1200">
                <a:solidFill>
                  <a:srgbClr val="1A1A2E"/>
                </a:solidFill>
              </a:rPr>
              <a:t>• Love new experiences &amp; the element of surprise</a:t>
            </a:r>
          </a:p>
          <a:p>
            <a:pPr algn="l"/>
            <a:r>
              <a:rPr sz="1200">
                <a:solidFill>
                  <a:srgbClr val="1A1A2E"/>
                </a:solidFill>
              </a:rPr>
              <a:t>  Evidence: "The majority look forward to Craft Snacks and its element of surprise"</a:t>
            </a:r>
          </a:p>
          <a:p>
            <a:pPr algn="l"/>
            <a:r>
              <a:rPr sz="1200">
                <a:solidFill>
                  <a:srgbClr val="1A1A2E"/>
                </a:solidFill>
              </a:rPr>
              <a:t>  → Core retention driver; theme variety is critical.</a:t>
            </a:r>
          </a:p>
          <a:p>
            <a:pPr algn="l"/>
            <a:endParaRPr sz="1200">
              <a:solidFill>
                <a:srgbClr val="1A1A2E"/>
              </a:solidFill>
            </a:endParaRPr>
          </a:p>
          <a:p>
            <a:pPr algn="l"/>
            <a:r>
              <a:rPr sz="1200">
                <a:solidFill>
                  <a:srgbClr val="1A1A2E"/>
                </a:solidFill>
              </a:rPr>
              <a:t>• Natural social sharers</a:t>
            </a:r>
          </a:p>
          <a:p>
            <a:pPr algn="l"/>
            <a:r>
              <a:rPr sz="1200">
                <a:solidFill>
                  <a:srgbClr val="1A1A2E"/>
                </a:solidFill>
              </a:rPr>
              <a:t>  Evidence: 36% have posted snack box photos on social media unprompted</a:t>
            </a:r>
          </a:p>
          <a:p>
            <a:pPr algn="l"/>
            <a:r>
              <a:rPr sz="1200">
                <a:solidFill>
                  <a:srgbClr val="1A1A2E"/>
                </a:solidFill>
              </a:rPr>
              <a:t>  → High untapped referral potential; sharing is intrinsic, not forced.</a:t>
            </a:r>
          </a:p>
          <a:p>
            <a:pPr algn="l"/>
            <a:endParaRPr sz="1200">
              <a:solidFill>
                <a:srgbClr val="1A1A2E"/>
              </a:solidFill>
            </a:endParaRPr>
          </a:p>
          <a:p>
            <a:pPr algn="l"/>
            <a:r>
              <a:rPr sz="1200">
                <a:solidFill>
                  <a:srgbClr val="1A1A2E"/>
                </a:solidFill>
              </a:rPr>
              <a:t>• Emotionally bonded with product</a:t>
            </a:r>
          </a:p>
          <a:p>
            <a:pPr algn="l"/>
            <a:r>
              <a:rPr sz="1200">
                <a:solidFill>
                  <a:srgbClr val="1A1A2E"/>
                </a:solidFill>
              </a:rPr>
              <a:t>  Evidence: 45% identify a 'favorite snack' and take action to re-obtain it</a:t>
            </a:r>
          </a:p>
          <a:p>
            <a:pPr algn="l"/>
            <a:r>
              <a:rPr sz="1200">
                <a:solidFill>
                  <a:srgbClr val="1A1A2E"/>
                </a:solidFill>
              </a:rPr>
              <a:t>  → Deep brand attachment; favorite snack = upsell/cross-sell opportunity.</a:t>
            </a:r>
          </a:p>
        </p:txBody>
      </p:sp>
      <p:sp>
        <p:nvSpPr>
          <p:cNvPr id="8" name="Rectangle 7"/>
          <p:cNvSpPr/>
          <p:nvPr/>
        </p:nvSpPr>
        <p:spPr>
          <a:xfrm>
            <a:off x="6400800" y="1143000"/>
            <a:ext cx="5486400" cy="411480"/>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83680" y="1161288"/>
            <a:ext cx="5212080" cy="347472"/>
          </a:xfrm>
          <a:prstGeom prst="rect">
            <a:avLst/>
          </a:prstGeom>
          <a:noFill/>
        </p:spPr>
        <p:txBody>
          <a:bodyPr wrap="square">
            <a:spAutoFit/>
          </a:bodyPr>
          <a:lstStyle/>
          <a:p>
            <a:pPr algn="l"/>
            <a:r>
              <a:rPr sz="1300" b="1" i="0">
                <a:solidFill>
                  <a:srgbClr val="FFFFFF"/>
                </a:solidFill>
              </a:rPr>
              <a:t>POTENTIAL CUSTOMERS: The Curious Snack Explorer</a:t>
            </a:r>
          </a:p>
        </p:txBody>
      </p:sp>
      <p:sp>
        <p:nvSpPr>
          <p:cNvPr id="10" name="TextBox 9"/>
          <p:cNvSpPr txBox="1"/>
          <p:nvPr/>
        </p:nvSpPr>
        <p:spPr>
          <a:xfrm>
            <a:off x="6400800" y="1572768"/>
            <a:ext cx="5486400" cy="4937760"/>
          </a:xfrm>
          <a:prstGeom prst="rect">
            <a:avLst/>
          </a:prstGeom>
          <a:noFill/>
        </p:spPr>
        <p:txBody>
          <a:bodyPr wrap="square">
            <a:spAutoFit/>
          </a:bodyPr>
          <a:lstStyle/>
          <a:p>
            <a:pPr algn="l"/>
            <a:r>
              <a:rPr sz="1200">
                <a:solidFill>
                  <a:srgbClr val="1A1A2E"/>
                </a:solidFill>
              </a:rPr>
              <a:t>• Intrinsically motivated to discover new snacks</a:t>
            </a:r>
          </a:p>
          <a:p>
            <a:pPr algn="l"/>
            <a:r>
              <a:rPr sz="1200">
                <a:solidFill>
                  <a:srgbClr val="1A1A2E"/>
                </a:solidFill>
              </a:rPr>
              <a:t>  Evidence: "I am interested in trying out new snacks"</a:t>
            </a:r>
          </a:p>
          <a:p>
            <a:pPr algn="l"/>
            <a:r>
              <a:rPr sz="1200">
                <a:solidFill>
                  <a:srgbClr val="1A1A2E"/>
                </a:solidFill>
              </a:rPr>
              <a:t>  → Interest is there: activation barrier is trust, not desire.</a:t>
            </a:r>
          </a:p>
          <a:p>
            <a:pPr algn="l"/>
            <a:endParaRPr sz="1200">
              <a:solidFill>
                <a:srgbClr val="1A1A2E"/>
              </a:solidFill>
            </a:endParaRPr>
          </a:p>
          <a:p>
            <a:pPr algn="l"/>
            <a:r>
              <a:rPr sz="1200">
                <a:solidFill>
                  <a:srgbClr val="1A1A2E"/>
                </a:solidFill>
              </a:rPr>
              <a:t>• Trust is the primary barrier (quality anxiety)</a:t>
            </a:r>
          </a:p>
          <a:p>
            <a:pPr algn="l"/>
            <a:r>
              <a:rPr sz="1200">
                <a:solidFill>
                  <a:srgbClr val="1A1A2E"/>
                </a:solidFill>
              </a:rPr>
              <a:t>  Evidence: "What if I don't like the majority of the snacks?"</a:t>
            </a:r>
          </a:p>
          <a:p>
            <a:pPr algn="l"/>
            <a:r>
              <a:rPr sz="1200">
                <a:solidFill>
                  <a:srgbClr val="1A1A2E"/>
                </a:solidFill>
              </a:rPr>
              <a:t>  → Authentic peer reviews could directly address this fear.</a:t>
            </a:r>
          </a:p>
          <a:p>
            <a:pPr algn="l"/>
            <a:endParaRPr sz="1200">
              <a:solidFill>
                <a:srgbClr val="1A1A2E"/>
              </a:solidFill>
            </a:endParaRPr>
          </a:p>
          <a:p>
            <a:pPr algn="l"/>
            <a:r>
              <a:rPr sz="1200">
                <a:solidFill>
                  <a:srgbClr val="1A1A2E"/>
                </a:solidFill>
              </a:rPr>
              <a:t>• Reliability anxiety (fulfillment &amp; packaging)</a:t>
            </a:r>
          </a:p>
          <a:p>
            <a:pPr algn="l"/>
            <a:r>
              <a:rPr sz="1200">
                <a:solidFill>
                  <a:srgbClr val="1A1A2E"/>
                </a:solidFill>
              </a:rPr>
              <a:t>  Evidence: "What if the order doesn't arrive?" / "poorly packaged?"</a:t>
            </a:r>
          </a:p>
          <a:p>
            <a:pPr algn="l"/>
            <a:r>
              <a:rPr sz="1200">
                <a:solidFill>
                  <a:srgbClr val="1A1A2E"/>
                </a:solidFill>
              </a:rPr>
              <a:t>  → Social proof showing real deliveries can build confidence.</a:t>
            </a:r>
          </a:p>
          <a:p>
            <a:pPr algn="l"/>
            <a:endParaRPr sz="1200">
              <a:solidFill>
                <a:srgbClr val="1A1A2E"/>
              </a:solidFill>
            </a:endParaRPr>
          </a:p>
          <a:p>
            <a:pPr algn="l"/>
            <a:r>
              <a:rPr sz="1200">
                <a:solidFill>
                  <a:srgbClr val="1A1A2E"/>
                </a:solidFill>
              </a:rPr>
              <a:t>• Visually attracted but not yet activated</a:t>
            </a:r>
          </a:p>
          <a:p>
            <a:pPr algn="l"/>
            <a:r>
              <a:rPr sz="1200">
                <a:solidFill>
                  <a:srgbClr val="1A1A2E"/>
                </a:solidFill>
              </a:rPr>
              <a:t>  Evidence: "The website looks really fun and piqued my interest"</a:t>
            </a:r>
          </a:p>
          <a:p>
            <a:pPr algn="l"/>
            <a:r>
              <a:rPr sz="1200">
                <a:solidFill>
                  <a:srgbClr val="1A1A2E"/>
                </a:solidFill>
              </a:rPr>
              <a:t>  → Curiosity exists; we need a compelling conversion trigger.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0"/>
            <a:ext cx="10972800" cy="914400"/>
          </a:xfrm>
          <a:prstGeom prst="rect">
            <a:avLst/>
          </a:prstGeom>
          <a:noFill/>
        </p:spPr>
        <p:txBody>
          <a:bodyPr wrap="square">
            <a:spAutoFit/>
          </a:bodyPr>
          <a:lstStyle/>
          <a:p>
            <a:pPr algn="ctr"/>
            <a:r>
              <a:rPr sz="2200" b="1" i="0">
                <a:solidFill>
                  <a:srgbClr val="E86B1A"/>
                </a:solidFill>
              </a:rPr>
              <a:t>PART 2</a:t>
            </a:r>
          </a:p>
        </p:txBody>
      </p:sp>
      <p:sp>
        <p:nvSpPr>
          <p:cNvPr id="4" name="TextBox 3"/>
          <p:cNvSpPr txBox="1"/>
          <p:nvPr/>
        </p:nvSpPr>
        <p:spPr>
          <a:xfrm>
            <a:off x="457200" y="2560320"/>
            <a:ext cx="10972800" cy="1371600"/>
          </a:xfrm>
          <a:prstGeom prst="rect">
            <a:avLst/>
          </a:prstGeom>
          <a:noFill/>
        </p:spPr>
        <p:txBody>
          <a:bodyPr wrap="square">
            <a:spAutoFit/>
          </a:bodyPr>
          <a:lstStyle/>
          <a:p>
            <a:pPr algn="ctr"/>
            <a:r>
              <a:rPr sz="4200" b="1" i="0">
                <a:solidFill>
                  <a:srgbClr val="FFFFFF"/>
                </a:solidFill>
              </a:rPr>
              <a:t>Mapping Out the Path to Growth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Problem Framing</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Resources · Values · Hurdles · Goals</a:t>
            </a:r>
          </a:p>
        </p:txBody>
      </p:sp>
      <p:sp>
        <p:nvSpPr>
          <p:cNvPr id="5" name="Rectangle 4"/>
          <p:cNvSpPr/>
          <p:nvPr/>
        </p:nvSpPr>
        <p:spPr>
          <a:xfrm>
            <a:off x="274320" y="1143000"/>
            <a:ext cx="2743200" cy="38404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161288"/>
            <a:ext cx="2651760" cy="329184"/>
          </a:xfrm>
          <a:prstGeom prst="rect">
            <a:avLst/>
          </a:prstGeom>
          <a:noFill/>
        </p:spPr>
        <p:txBody>
          <a:bodyPr wrap="square">
            <a:spAutoFit/>
          </a:bodyPr>
          <a:lstStyle/>
          <a:p>
            <a:pPr algn="ctr"/>
            <a:r>
              <a:rPr sz="1300" b="1" i="0">
                <a:solidFill>
                  <a:srgbClr val="FFFFFF"/>
                </a:solidFill>
              </a:rPr>
              <a:t>RESOURCES</a:t>
            </a:r>
          </a:p>
        </p:txBody>
      </p:sp>
      <p:sp>
        <p:nvSpPr>
          <p:cNvPr id="7" name="Rectangle 6"/>
          <p:cNvSpPr/>
          <p:nvPr/>
        </p:nvSpPr>
        <p:spPr>
          <a:xfrm>
            <a:off x="274320" y="1527048"/>
            <a:ext cx="2743200" cy="5074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572768"/>
            <a:ext cx="2606040" cy="4937760"/>
          </a:xfrm>
          <a:prstGeom prst="rect">
            <a:avLst/>
          </a:prstGeom>
          <a:noFill/>
        </p:spPr>
        <p:txBody>
          <a:bodyPr wrap="square">
            <a:spAutoFit/>
          </a:bodyPr>
          <a:lstStyle/>
          <a:p>
            <a:pPr algn="l"/>
            <a:r>
              <a:rPr sz="1200">
                <a:solidFill>
                  <a:srgbClr val="1A1A2E"/>
                </a:solidFill>
              </a:rPr>
              <a:t>What existing assets can we leverage?</a:t>
            </a:r>
          </a:p>
          <a:p>
            <a:pPr algn="l"/>
            <a:endParaRPr sz="1200">
              <a:solidFill>
                <a:srgbClr val="1A1A2E"/>
              </a:solidFill>
            </a:endParaRPr>
          </a:p>
          <a:p>
            <a:pPr algn="l"/>
            <a:r>
              <a:rPr sz="1200">
                <a:solidFill>
                  <a:srgbClr val="1A1A2E"/>
                </a:solidFill>
              </a:rPr>
              <a:t>• 120,000 active subscribers, 30% of whom</a:t>
            </a:r>
          </a:p>
          <a:p>
            <a:pPr algn="l"/>
            <a:r>
              <a:rPr sz="1200">
                <a:solidFill>
                  <a:srgbClr val="1A1A2E"/>
                </a:solidFill>
              </a:rPr>
              <a:t>  engage meaningfully every month (~36,000 MAU)</a:t>
            </a:r>
          </a:p>
          <a:p>
            <a:pPr algn="l"/>
            <a:endParaRPr sz="1200">
              <a:solidFill>
                <a:srgbClr val="1A1A2E"/>
              </a:solidFill>
            </a:endParaRPr>
          </a:p>
          <a:p>
            <a:pPr algn="l"/>
            <a:r>
              <a:rPr sz="1200">
                <a:solidFill>
                  <a:srgbClr val="1A1A2E"/>
                </a:solidFill>
              </a:rPr>
              <a:t>• 36% of customers already spontaneously</a:t>
            </a:r>
          </a:p>
          <a:p>
            <a:pPr algn="l"/>
            <a:r>
              <a:rPr sz="1200">
                <a:solidFill>
                  <a:srgbClr val="1A1A2E"/>
                </a:solidFill>
              </a:rPr>
              <a:t>  share snack box content on social media</a:t>
            </a:r>
          </a:p>
          <a:p>
            <a:pPr algn="l"/>
            <a:r>
              <a:rPr sz="1200">
                <a:solidFill>
                  <a:srgbClr val="1A1A2E"/>
                </a:solidFill>
              </a:rPr>
              <a:t>  without any platform incentive</a:t>
            </a:r>
          </a:p>
          <a:p>
            <a:pPr algn="l"/>
            <a:endParaRPr sz="1200">
              <a:solidFill>
                <a:srgbClr val="1A1A2E"/>
              </a:solidFill>
            </a:endParaRPr>
          </a:p>
          <a:p>
            <a:pPr algn="l"/>
            <a:r>
              <a:rPr sz="1200">
                <a:solidFill>
                  <a:srgbClr val="1A1A2E"/>
                </a:solidFill>
              </a:rPr>
              <a:t>• 48% of MAU write and share reviews on</a:t>
            </a:r>
          </a:p>
          <a:p>
            <a:pPr algn="l"/>
            <a:r>
              <a:rPr sz="1200">
                <a:solidFill>
                  <a:srgbClr val="1A1A2E"/>
                </a:solidFill>
              </a:rPr>
              <a:t>  the platform: rich UGC pipeline</a:t>
            </a:r>
          </a:p>
        </p:txBody>
      </p:sp>
      <p:sp>
        <p:nvSpPr>
          <p:cNvPr id="9" name="Rectangle 8"/>
          <p:cNvSpPr/>
          <p:nvPr/>
        </p:nvSpPr>
        <p:spPr>
          <a:xfrm>
            <a:off x="3182112" y="1143000"/>
            <a:ext cx="2743200" cy="384048"/>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27832" y="1161288"/>
            <a:ext cx="2651760" cy="329184"/>
          </a:xfrm>
          <a:prstGeom prst="rect">
            <a:avLst/>
          </a:prstGeom>
          <a:noFill/>
        </p:spPr>
        <p:txBody>
          <a:bodyPr wrap="square">
            <a:spAutoFit/>
          </a:bodyPr>
          <a:lstStyle/>
          <a:p>
            <a:pPr algn="ctr"/>
            <a:r>
              <a:rPr sz="1300" b="1" i="0">
                <a:solidFill>
                  <a:srgbClr val="FFFFFF"/>
                </a:solidFill>
              </a:rPr>
              <a:t>VALUES</a:t>
            </a:r>
          </a:p>
        </p:txBody>
      </p:sp>
      <p:sp>
        <p:nvSpPr>
          <p:cNvPr id="11" name="Rectangle 10"/>
          <p:cNvSpPr/>
          <p:nvPr/>
        </p:nvSpPr>
        <p:spPr>
          <a:xfrm>
            <a:off x="3182112" y="1527048"/>
            <a:ext cx="2743200" cy="5074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73552" y="1572768"/>
            <a:ext cx="2606040" cy="4937760"/>
          </a:xfrm>
          <a:prstGeom prst="rect">
            <a:avLst/>
          </a:prstGeom>
          <a:noFill/>
        </p:spPr>
        <p:txBody>
          <a:bodyPr wrap="square">
            <a:spAutoFit/>
          </a:bodyPr>
          <a:lstStyle/>
          <a:p>
            <a:pPr algn="l"/>
            <a:r>
              <a:rPr sz="1200">
                <a:solidFill>
                  <a:srgbClr val="1A1A2E"/>
                </a:solidFill>
              </a:rPr>
              <a:t>What opportunities can we unlock?</a:t>
            </a:r>
          </a:p>
          <a:p>
            <a:pPr algn="l"/>
            <a:endParaRPr sz="1200">
              <a:solidFill>
                <a:srgbClr val="1A1A2E"/>
              </a:solidFill>
            </a:endParaRPr>
          </a:p>
          <a:p>
            <a:pPr algn="l"/>
            <a:r>
              <a:rPr sz="1200">
                <a:solidFill>
                  <a:srgbClr val="1A1A2E"/>
                </a:solidFill>
              </a:rPr>
              <a:t>• Existing customer shares = authentic,</a:t>
            </a:r>
          </a:p>
          <a:p>
            <a:pPr algn="l"/>
            <a:r>
              <a:rPr sz="1200">
                <a:solidFill>
                  <a:srgbClr val="1A1A2E"/>
                </a:solidFill>
              </a:rPr>
              <a:t>  zero-cost marketing touchpoints that build</a:t>
            </a:r>
          </a:p>
          <a:p>
            <a:pPr algn="l"/>
            <a:r>
              <a:rPr sz="1200">
                <a:solidFill>
                  <a:srgbClr val="1A1A2E"/>
                </a:solidFill>
              </a:rPr>
              <a:t>  trust with potential customers</a:t>
            </a:r>
          </a:p>
          <a:p>
            <a:pPr algn="l"/>
            <a:endParaRPr sz="1200">
              <a:solidFill>
                <a:srgbClr val="1A1A2E"/>
              </a:solidFill>
            </a:endParaRPr>
          </a:p>
          <a:p>
            <a:pPr algn="l"/>
            <a:r>
              <a:rPr sz="1200">
                <a:solidFill>
                  <a:srgbClr val="1A1A2E"/>
                </a:solidFill>
              </a:rPr>
              <a:t>• Peer reviews directly address the #1 barrier</a:t>
            </a:r>
          </a:p>
          <a:p>
            <a:pPr algn="l"/>
            <a:r>
              <a:rPr sz="1200">
                <a:solidFill>
                  <a:srgbClr val="1A1A2E"/>
                </a:solidFill>
              </a:rPr>
              <a:t>  for potential customers: product quality</a:t>
            </a:r>
          </a:p>
          <a:p>
            <a:pPr algn="l"/>
            <a:r>
              <a:rPr sz="1200">
                <a:solidFill>
                  <a:srgbClr val="1A1A2E"/>
                </a:solidFill>
              </a:rPr>
              <a:t>  uncertainty ('What if I don't like them?')</a:t>
            </a:r>
          </a:p>
        </p:txBody>
      </p:sp>
      <p:sp>
        <p:nvSpPr>
          <p:cNvPr id="13" name="Rectangle 12"/>
          <p:cNvSpPr/>
          <p:nvPr/>
        </p:nvSpPr>
        <p:spPr>
          <a:xfrm>
            <a:off x="6089904" y="1143000"/>
            <a:ext cx="2743200" cy="384048"/>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35624" y="1161288"/>
            <a:ext cx="2651760" cy="329184"/>
          </a:xfrm>
          <a:prstGeom prst="rect">
            <a:avLst/>
          </a:prstGeom>
          <a:noFill/>
        </p:spPr>
        <p:txBody>
          <a:bodyPr wrap="square">
            <a:spAutoFit/>
          </a:bodyPr>
          <a:lstStyle/>
          <a:p>
            <a:pPr algn="ctr"/>
            <a:r>
              <a:rPr sz="1300" b="1" i="0">
                <a:solidFill>
                  <a:srgbClr val="FFFFFF"/>
                </a:solidFill>
              </a:rPr>
              <a:t>HURDLES</a:t>
            </a:r>
          </a:p>
        </p:txBody>
      </p:sp>
      <p:sp>
        <p:nvSpPr>
          <p:cNvPr id="15" name="Rectangle 14"/>
          <p:cNvSpPr/>
          <p:nvPr/>
        </p:nvSpPr>
        <p:spPr>
          <a:xfrm>
            <a:off x="6089904" y="1527048"/>
            <a:ext cx="2743200" cy="5074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81344" y="1572768"/>
            <a:ext cx="2606040" cy="4937760"/>
          </a:xfrm>
          <a:prstGeom prst="rect">
            <a:avLst/>
          </a:prstGeom>
          <a:noFill/>
        </p:spPr>
        <p:txBody>
          <a:bodyPr wrap="square">
            <a:spAutoFit/>
          </a:bodyPr>
          <a:lstStyle/>
          <a:p>
            <a:pPr algn="l"/>
            <a:r>
              <a:rPr sz="1200">
                <a:solidFill>
                  <a:srgbClr val="1A1A2E"/>
                </a:solidFill>
              </a:rPr>
              <a:t>What is blocking potential customers?</a:t>
            </a:r>
          </a:p>
          <a:p>
            <a:pPr algn="l"/>
            <a:endParaRPr sz="1200">
              <a:solidFill>
                <a:srgbClr val="1A1A2E"/>
              </a:solidFill>
            </a:endParaRPr>
          </a:p>
          <a:p>
            <a:pPr algn="l"/>
            <a:r>
              <a:rPr sz="1200">
                <a:solidFill>
                  <a:srgbClr val="1A1A2E"/>
                </a:solidFill>
              </a:rPr>
              <a:t>• Product quality uncertainty: No trial option</a:t>
            </a:r>
          </a:p>
          <a:p>
            <a:pPr algn="l"/>
            <a:r>
              <a:rPr sz="1200">
                <a:solidFill>
                  <a:srgbClr val="1A1A2E"/>
                </a:solidFill>
              </a:rPr>
              <a:t>  or visible social proof at the point of</a:t>
            </a:r>
          </a:p>
          <a:p>
            <a:pPr algn="l"/>
            <a:r>
              <a:rPr sz="1200">
                <a:solidFill>
                  <a:srgbClr val="1A1A2E"/>
                </a:solidFill>
              </a:rPr>
              <a:t>  conversion to reduce 'what if I hate it?' fear</a:t>
            </a:r>
          </a:p>
          <a:p>
            <a:pPr algn="l"/>
            <a:endParaRPr sz="1200">
              <a:solidFill>
                <a:srgbClr val="1A1A2E"/>
              </a:solidFill>
            </a:endParaRPr>
          </a:p>
          <a:p>
            <a:pPr algn="l"/>
            <a:r>
              <a:rPr sz="1200">
                <a:solidFill>
                  <a:srgbClr val="1A1A2E"/>
                </a:solidFill>
              </a:rPr>
              <a:t>• Reliability anxiety: Concerns about order</a:t>
            </a:r>
          </a:p>
          <a:p>
            <a:pPr algn="l"/>
            <a:r>
              <a:rPr sz="1200">
                <a:solidFill>
                  <a:srgbClr val="1A1A2E"/>
                </a:solidFill>
              </a:rPr>
              <a:t>  delivery and packaging quality are not</a:t>
            </a:r>
          </a:p>
          <a:p>
            <a:pPr algn="l"/>
            <a:r>
              <a:rPr sz="1200">
                <a:solidFill>
                  <a:srgbClr val="1A1A2E"/>
                </a:solidFill>
              </a:rPr>
              <a:t>  addressed on the landing page</a:t>
            </a:r>
          </a:p>
        </p:txBody>
      </p:sp>
      <p:sp>
        <p:nvSpPr>
          <p:cNvPr id="17" name="Rectangle 16"/>
          <p:cNvSpPr/>
          <p:nvPr/>
        </p:nvSpPr>
        <p:spPr>
          <a:xfrm>
            <a:off x="8997696" y="1143000"/>
            <a:ext cx="2743200" cy="384048"/>
          </a:xfrm>
          <a:prstGeom prst="rect">
            <a:avLst/>
          </a:prstGeom>
          <a:solidFill>
            <a:srgbClr val="1A78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043416" y="1161288"/>
            <a:ext cx="2651760" cy="329184"/>
          </a:xfrm>
          <a:prstGeom prst="rect">
            <a:avLst/>
          </a:prstGeom>
          <a:noFill/>
        </p:spPr>
        <p:txBody>
          <a:bodyPr wrap="square">
            <a:spAutoFit/>
          </a:bodyPr>
          <a:lstStyle/>
          <a:p>
            <a:pPr algn="ctr"/>
            <a:r>
              <a:rPr sz="1300" b="1" i="0">
                <a:solidFill>
                  <a:srgbClr val="FFFFFF"/>
                </a:solidFill>
              </a:rPr>
              <a:t>GOAL</a:t>
            </a:r>
          </a:p>
        </p:txBody>
      </p:sp>
      <p:sp>
        <p:nvSpPr>
          <p:cNvPr id="19" name="Rectangle 18"/>
          <p:cNvSpPr/>
          <p:nvPr/>
        </p:nvSpPr>
        <p:spPr>
          <a:xfrm>
            <a:off x="8997696" y="1527048"/>
            <a:ext cx="2743200" cy="50749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089136" y="1572768"/>
            <a:ext cx="2606040" cy="4937760"/>
          </a:xfrm>
          <a:prstGeom prst="rect">
            <a:avLst/>
          </a:prstGeom>
          <a:noFill/>
        </p:spPr>
        <p:txBody>
          <a:bodyPr wrap="square">
            <a:spAutoFit/>
          </a:bodyPr>
          <a:lstStyle/>
          <a:p>
            <a:pPr algn="l"/>
            <a:r>
              <a:rPr sz="1200">
                <a:solidFill>
                  <a:srgbClr val="1A1A2E"/>
                </a:solidFill>
              </a:rPr>
              <a:t>What are we trying to achieve?</a:t>
            </a:r>
          </a:p>
          <a:p>
            <a:pPr algn="l"/>
            <a:endParaRPr sz="1200">
              <a:solidFill>
                <a:srgbClr val="1A1A2E"/>
              </a:solidFill>
            </a:endParaRPr>
          </a:p>
          <a:p>
            <a:pPr algn="l"/>
            <a:r>
              <a:rPr sz="1200">
                <a:solidFill>
                  <a:srgbClr val="1A1A2E"/>
                </a:solidFill>
              </a:rPr>
              <a:t>• Achieve 20% month-over-month growth in</a:t>
            </a:r>
          </a:p>
          <a:p>
            <a:pPr algn="l"/>
            <a:r>
              <a:rPr sz="1200">
                <a:solidFill>
                  <a:srgbClr val="1A1A2E"/>
                </a:solidFill>
              </a:rPr>
              <a:t>  new monthly subscribed users over the</a:t>
            </a:r>
          </a:p>
          <a:p>
            <a:pPr algn="l"/>
            <a:r>
              <a:rPr sz="1200">
                <a:solidFill>
                  <a:srgbClr val="1A1A2E"/>
                </a:solidFill>
              </a:rPr>
              <a:t>  next quarter by turning existing customers</a:t>
            </a:r>
          </a:p>
          <a:p>
            <a:pPr algn="l"/>
            <a:r>
              <a:rPr sz="1200">
                <a:solidFill>
                  <a:srgbClr val="1A1A2E"/>
                </a:solidFill>
              </a:rPr>
              <a:t>  into a viral, self-sustaining acquisition</a:t>
            </a:r>
          </a:p>
          <a:p>
            <a:pPr algn="l"/>
            <a:r>
              <a:rPr sz="1200">
                <a:solidFill>
                  <a:srgbClr val="1A1A2E"/>
                </a:solidFill>
              </a:rPr>
              <a:t>  engine through social sharing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The Growth Loop</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Share My Box: Viral Referral Loop</a:t>
            </a:r>
          </a:p>
        </p:txBody>
      </p:sp>
      <p:sp>
        <p:nvSpPr>
          <p:cNvPr id="5" name="Rectangle 4"/>
          <p:cNvSpPr/>
          <p:nvPr/>
        </p:nvSpPr>
        <p:spPr>
          <a:xfrm>
            <a:off x="3977640" y="1289304"/>
            <a:ext cx="3017520" cy="347472"/>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931920" y="1348740"/>
            <a:ext cx="2926079" cy="310896"/>
          </a:xfrm>
          <a:prstGeom prst="rect">
            <a:avLst/>
          </a:prstGeom>
          <a:noFill/>
        </p:spPr>
        <p:txBody>
          <a:bodyPr wrap="square">
            <a:spAutoFit/>
          </a:bodyPr>
          <a:lstStyle/>
          <a:p>
            <a:pPr algn="ctr"/>
            <a:r>
              <a:rPr sz="1100" b="1" i="0">
                <a:solidFill>
                  <a:srgbClr val="FFFFFF"/>
                </a:solidFill>
              </a:rPr>
              <a:t>1. ENGAGE</a:t>
            </a:r>
          </a:p>
        </p:txBody>
      </p:sp>
      <p:sp>
        <p:nvSpPr>
          <p:cNvPr id="7" name="Rectangle 6"/>
          <p:cNvSpPr/>
          <p:nvPr/>
        </p:nvSpPr>
        <p:spPr>
          <a:xfrm>
            <a:off x="3977640" y="1636777"/>
            <a:ext cx="3017520" cy="8869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977640" y="1714500"/>
            <a:ext cx="2880360" cy="832104"/>
          </a:xfrm>
          <a:prstGeom prst="rect">
            <a:avLst/>
          </a:prstGeom>
          <a:noFill/>
        </p:spPr>
        <p:txBody>
          <a:bodyPr wrap="square">
            <a:spAutoFit/>
          </a:bodyPr>
          <a:lstStyle/>
          <a:p>
            <a:pPr algn="l"/>
            <a:r>
              <a:rPr sz="1100" b="0" i="0">
                <a:solidFill>
                  <a:srgbClr val="1A1A2E"/>
                </a:solidFill>
              </a:rPr>
              <a:t>Existing subscriber receives
monthly snack box and
experiences delight</a:t>
            </a:r>
          </a:p>
        </p:txBody>
      </p:sp>
      <p:sp>
        <p:nvSpPr>
          <p:cNvPr id="9" name="Rectangle 8"/>
          <p:cNvSpPr/>
          <p:nvPr/>
        </p:nvSpPr>
        <p:spPr>
          <a:xfrm>
            <a:off x="7580313" y="2548889"/>
            <a:ext cx="3017520" cy="347472"/>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26032" y="2567177"/>
            <a:ext cx="2926079" cy="310896"/>
          </a:xfrm>
          <a:prstGeom prst="rect">
            <a:avLst/>
          </a:prstGeom>
          <a:noFill/>
        </p:spPr>
        <p:txBody>
          <a:bodyPr wrap="square">
            <a:spAutoFit/>
          </a:bodyPr>
          <a:lstStyle/>
          <a:p>
            <a:pPr algn="ctr"/>
            <a:r>
              <a:rPr sz="1100" b="1" i="0">
                <a:solidFill>
                  <a:srgbClr val="FFFFFF"/>
                </a:solidFill>
              </a:rPr>
              <a:t>2. SHARE</a:t>
            </a:r>
          </a:p>
        </p:txBody>
      </p:sp>
      <p:sp>
        <p:nvSpPr>
          <p:cNvPr id="11" name="Rectangle 10"/>
          <p:cNvSpPr/>
          <p:nvPr/>
        </p:nvSpPr>
        <p:spPr>
          <a:xfrm>
            <a:off x="7580313" y="2896361"/>
            <a:ext cx="3017520" cy="8869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71752" y="2932937"/>
            <a:ext cx="2880360" cy="832104"/>
          </a:xfrm>
          <a:prstGeom prst="rect">
            <a:avLst/>
          </a:prstGeom>
          <a:noFill/>
        </p:spPr>
        <p:txBody>
          <a:bodyPr wrap="square">
            <a:spAutoFit/>
          </a:bodyPr>
          <a:lstStyle/>
          <a:p>
            <a:pPr algn="l"/>
            <a:r>
              <a:rPr sz="1100" b="0" i="0">
                <a:solidFill>
                  <a:srgbClr val="1A1A2E"/>
                </a:solidFill>
              </a:rPr>
              <a:t>"Share My Box" feature:
branded photo card +
review + referral link</a:t>
            </a:r>
          </a:p>
        </p:txBody>
      </p:sp>
      <p:sp>
        <p:nvSpPr>
          <p:cNvPr id="13" name="Rectangle 12"/>
          <p:cNvSpPr/>
          <p:nvPr/>
        </p:nvSpPr>
        <p:spPr>
          <a:xfrm>
            <a:off x="6094412" y="4238244"/>
            <a:ext cx="3017520" cy="347472"/>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40131" y="4256532"/>
            <a:ext cx="2926079" cy="310896"/>
          </a:xfrm>
          <a:prstGeom prst="rect">
            <a:avLst/>
          </a:prstGeom>
          <a:noFill/>
        </p:spPr>
        <p:txBody>
          <a:bodyPr wrap="square">
            <a:spAutoFit/>
          </a:bodyPr>
          <a:lstStyle/>
          <a:p>
            <a:pPr algn="ctr"/>
            <a:r>
              <a:rPr sz="1100" b="1" i="0">
                <a:solidFill>
                  <a:srgbClr val="FFFFFF"/>
                </a:solidFill>
              </a:rPr>
              <a:t>3. DISCOVER</a:t>
            </a:r>
          </a:p>
        </p:txBody>
      </p:sp>
      <p:sp>
        <p:nvSpPr>
          <p:cNvPr id="15" name="Rectangle 14"/>
          <p:cNvSpPr/>
          <p:nvPr/>
        </p:nvSpPr>
        <p:spPr>
          <a:xfrm>
            <a:off x="6094412" y="4585716"/>
            <a:ext cx="3017520" cy="8869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85851" y="4622292"/>
            <a:ext cx="2880360" cy="832104"/>
          </a:xfrm>
          <a:prstGeom prst="rect">
            <a:avLst/>
          </a:prstGeom>
          <a:noFill/>
        </p:spPr>
        <p:txBody>
          <a:bodyPr wrap="square">
            <a:spAutoFit/>
          </a:bodyPr>
          <a:lstStyle/>
          <a:p>
            <a:pPr algn="l"/>
            <a:r>
              <a:rPr sz="1100" b="0" i="0">
                <a:solidFill>
                  <a:srgbClr val="1A1A2E"/>
                </a:solidFill>
              </a:rPr>
              <a:t>Friend/follower sees the
authentc peer share
and clicks the link</a:t>
            </a:r>
          </a:p>
        </p:txBody>
      </p:sp>
      <p:sp>
        <p:nvSpPr>
          <p:cNvPr id="17" name="Rectangle 16"/>
          <p:cNvSpPr/>
          <p:nvPr/>
        </p:nvSpPr>
        <p:spPr>
          <a:xfrm>
            <a:off x="2075688" y="4283963"/>
            <a:ext cx="3017520" cy="347472"/>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21408" y="4302251"/>
            <a:ext cx="2926079" cy="310896"/>
          </a:xfrm>
          <a:prstGeom prst="rect">
            <a:avLst/>
          </a:prstGeom>
          <a:noFill/>
        </p:spPr>
        <p:txBody>
          <a:bodyPr wrap="square">
            <a:spAutoFit/>
          </a:bodyPr>
          <a:lstStyle/>
          <a:p>
            <a:pPr algn="ctr"/>
            <a:r>
              <a:rPr sz="1100" b="1" i="0">
                <a:solidFill>
                  <a:srgbClr val="FFFFFF"/>
                </a:solidFill>
              </a:rPr>
              <a:t>4. CONVERT</a:t>
            </a:r>
          </a:p>
        </p:txBody>
      </p:sp>
      <p:sp>
        <p:nvSpPr>
          <p:cNvPr id="19" name="Rectangle 18"/>
          <p:cNvSpPr/>
          <p:nvPr/>
        </p:nvSpPr>
        <p:spPr>
          <a:xfrm>
            <a:off x="2075688" y="4631435"/>
            <a:ext cx="3017520" cy="8869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67128" y="4668011"/>
            <a:ext cx="2880360" cy="832104"/>
          </a:xfrm>
          <a:prstGeom prst="rect">
            <a:avLst/>
          </a:prstGeom>
          <a:noFill/>
        </p:spPr>
        <p:txBody>
          <a:bodyPr wrap="square">
            <a:spAutoFit/>
          </a:bodyPr>
          <a:lstStyle/>
          <a:p>
            <a:pPr algn="l"/>
            <a:r>
              <a:rPr sz="1100" b="0" i="0">
                <a:solidFill>
                  <a:srgbClr val="1A1A2E"/>
                </a:solidFill>
              </a:rPr>
              <a:t>New visitor lands on site
with social proof context
and subscribes</a:t>
            </a:r>
          </a:p>
        </p:txBody>
      </p:sp>
      <p:sp>
        <p:nvSpPr>
          <p:cNvPr id="21" name="Rectangle 20"/>
          <p:cNvSpPr/>
          <p:nvPr/>
        </p:nvSpPr>
        <p:spPr>
          <a:xfrm>
            <a:off x="594359" y="2603753"/>
            <a:ext cx="3017520" cy="347472"/>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79" y="2622041"/>
            <a:ext cx="2926079" cy="310896"/>
          </a:xfrm>
          <a:prstGeom prst="rect">
            <a:avLst/>
          </a:prstGeom>
          <a:noFill/>
        </p:spPr>
        <p:txBody>
          <a:bodyPr wrap="square">
            <a:spAutoFit/>
          </a:bodyPr>
          <a:lstStyle/>
          <a:p>
            <a:pPr algn="ctr"/>
            <a:r>
              <a:rPr sz="1100" b="1" i="0">
                <a:solidFill>
                  <a:srgbClr val="FFFFFF"/>
                </a:solidFill>
              </a:rPr>
              <a:t>5. REPEAT</a:t>
            </a:r>
          </a:p>
        </p:txBody>
      </p:sp>
      <p:sp>
        <p:nvSpPr>
          <p:cNvPr id="23" name="Rectangle 22"/>
          <p:cNvSpPr/>
          <p:nvPr/>
        </p:nvSpPr>
        <p:spPr>
          <a:xfrm>
            <a:off x="594359" y="2951225"/>
            <a:ext cx="3017520" cy="88696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85798" y="2987801"/>
            <a:ext cx="2880360" cy="832104"/>
          </a:xfrm>
          <a:prstGeom prst="rect">
            <a:avLst/>
          </a:prstGeom>
          <a:noFill/>
        </p:spPr>
        <p:txBody>
          <a:bodyPr wrap="square">
            <a:spAutoFit/>
          </a:bodyPr>
          <a:lstStyle/>
          <a:p>
            <a:pPr algn="l"/>
            <a:r>
              <a:rPr sz="1100" b="0" i="0">
                <a:solidFill>
                  <a:srgbClr val="1A1A2E"/>
                </a:solidFill>
              </a:rPr>
              <a:t>New subscriber receives
their box, shares it,
and the loop continues</a:t>
            </a:r>
          </a:p>
        </p:txBody>
      </p:sp>
      <p:sp>
        <p:nvSpPr>
          <p:cNvPr id="25" name="Rectangle 24"/>
          <p:cNvSpPr/>
          <p:nvPr/>
        </p:nvSpPr>
        <p:spPr>
          <a:xfrm>
            <a:off x="8046721" y="5573268"/>
            <a:ext cx="3931920" cy="118872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38161" y="5591556"/>
            <a:ext cx="3749039" cy="274320"/>
          </a:xfrm>
          <a:prstGeom prst="rect">
            <a:avLst/>
          </a:prstGeom>
          <a:noFill/>
        </p:spPr>
        <p:txBody>
          <a:bodyPr wrap="square">
            <a:spAutoFit/>
          </a:bodyPr>
          <a:lstStyle/>
          <a:p>
            <a:pPr algn="l"/>
            <a:r>
              <a:rPr sz="1000" b="1" i="0">
                <a:solidFill>
                  <a:srgbClr val="E86B1A"/>
                </a:solidFill>
              </a:rPr>
              <a:t>KEY NEW PRODUCT FEATURE:</a:t>
            </a:r>
          </a:p>
        </p:txBody>
      </p:sp>
      <p:sp>
        <p:nvSpPr>
          <p:cNvPr id="27" name="TextBox 26"/>
          <p:cNvSpPr txBox="1"/>
          <p:nvPr/>
        </p:nvSpPr>
        <p:spPr>
          <a:xfrm>
            <a:off x="8138161" y="5865876"/>
            <a:ext cx="3749039" cy="777240"/>
          </a:xfrm>
          <a:prstGeom prst="rect">
            <a:avLst/>
          </a:prstGeom>
          <a:noFill/>
        </p:spPr>
        <p:txBody>
          <a:bodyPr wrap="square">
            <a:spAutoFit/>
          </a:bodyPr>
          <a:lstStyle/>
          <a:p>
            <a:pPr algn="l"/>
            <a:r>
              <a:rPr sz="1000" b="0" i="0" dirty="0">
                <a:solidFill>
                  <a:srgbClr val="1A1A2E"/>
                </a:solidFill>
              </a:rPr>
              <a:t>"Share My Box": A shareable branded card generated after box delivery. Includes: themed photo upload, review snippet, referral link. Sharer earns loyalty points; new sign-ups via link get first-month discount.</a:t>
            </a:r>
          </a:p>
        </p:txBody>
      </p:sp>
      <p:cxnSp>
        <p:nvCxnSpPr>
          <p:cNvPr id="29" name="Connector: Curved 28">
            <a:extLst>
              <a:ext uri="{FF2B5EF4-FFF2-40B4-BE49-F238E27FC236}">
                <a16:creationId xmlns:a16="http://schemas.microsoft.com/office/drawing/2014/main" id="{AAE3C9C8-F0F4-C341-4715-2D000A4FC118}"/>
              </a:ext>
            </a:extLst>
          </p:cNvPr>
          <p:cNvCxnSpPr>
            <a:cxnSpLocks/>
            <a:stCxn id="7" idx="3"/>
            <a:endCxn id="10" idx="0"/>
          </p:cNvCxnSpPr>
          <p:nvPr/>
        </p:nvCxnSpPr>
        <p:spPr>
          <a:xfrm>
            <a:off x="6995160" y="2080261"/>
            <a:ext cx="2093912" cy="486916"/>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 name="Connector: Curved 30">
            <a:extLst>
              <a:ext uri="{FF2B5EF4-FFF2-40B4-BE49-F238E27FC236}">
                <a16:creationId xmlns:a16="http://schemas.microsoft.com/office/drawing/2014/main" id="{53EC91C7-4A67-80A3-B030-6DD8DE4D6B7A}"/>
              </a:ext>
            </a:extLst>
          </p:cNvPr>
          <p:cNvCxnSpPr>
            <a:cxnSpLocks/>
            <a:endCxn id="16" idx="3"/>
          </p:cNvCxnSpPr>
          <p:nvPr/>
        </p:nvCxnSpPr>
        <p:spPr>
          <a:xfrm rot="5400000">
            <a:off x="8820469" y="4029072"/>
            <a:ext cx="1255015" cy="763529"/>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Connector: Curved 34">
            <a:extLst>
              <a:ext uri="{FF2B5EF4-FFF2-40B4-BE49-F238E27FC236}">
                <a16:creationId xmlns:a16="http://schemas.microsoft.com/office/drawing/2014/main" id="{8443009F-74D9-B61C-9DA7-0E052D72C403}"/>
              </a:ext>
            </a:extLst>
          </p:cNvPr>
          <p:cNvCxnSpPr>
            <a:cxnSpLocks/>
            <a:stCxn id="16" idx="2"/>
            <a:endCxn id="20" idx="2"/>
          </p:cNvCxnSpPr>
          <p:nvPr/>
        </p:nvCxnSpPr>
        <p:spPr>
          <a:xfrm rot="5400000">
            <a:off x="5593811" y="3467894"/>
            <a:ext cx="45719" cy="4018723"/>
          </a:xfrm>
          <a:prstGeom prst="curvedConnector3">
            <a:avLst>
              <a:gd name="adj1" fmla="val 1720035"/>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Connector: Curved 39">
            <a:extLst>
              <a:ext uri="{FF2B5EF4-FFF2-40B4-BE49-F238E27FC236}">
                <a16:creationId xmlns:a16="http://schemas.microsoft.com/office/drawing/2014/main" id="{112AA746-9374-363E-E663-B211EA36D7A4}"/>
              </a:ext>
            </a:extLst>
          </p:cNvPr>
          <p:cNvCxnSpPr>
            <a:cxnSpLocks/>
            <a:stCxn id="19" idx="1"/>
          </p:cNvCxnSpPr>
          <p:nvPr/>
        </p:nvCxnSpPr>
        <p:spPr>
          <a:xfrm rot="10800000">
            <a:off x="1357886" y="3856481"/>
            <a:ext cx="717802" cy="1218438"/>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4" name="Connector: Curved 43">
            <a:extLst>
              <a:ext uri="{FF2B5EF4-FFF2-40B4-BE49-F238E27FC236}">
                <a16:creationId xmlns:a16="http://schemas.microsoft.com/office/drawing/2014/main" id="{BB8EA5D6-4696-E10D-E067-ED8B8F4EF21D}"/>
              </a:ext>
            </a:extLst>
          </p:cNvPr>
          <p:cNvCxnSpPr>
            <a:cxnSpLocks/>
            <a:stCxn id="22" idx="0"/>
            <a:endCxn id="8" idx="1"/>
          </p:cNvCxnSpPr>
          <p:nvPr/>
        </p:nvCxnSpPr>
        <p:spPr>
          <a:xfrm rot="5400000" flipH="1" flipV="1">
            <a:off x="2794635" y="1439037"/>
            <a:ext cx="491489" cy="1874521"/>
          </a:xfrm>
          <a:prstGeom prst="curvedConnector2">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The Growth Loop: Hypotheses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Overall and Step-Level Assumptions</a:t>
            </a:r>
          </a:p>
        </p:txBody>
      </p:sp>
      <p:sp>
        <p:nvSpPr>
          <p:cNvPr id="5" name="Rectangle 4"/>
          <p:cNvSpPr/>
          <p:nvPr/>
        </p:nvSpPr>
        <p:spPr>
          <a:xfrm>
            <a:off x="274320" y="1143000"/>
            <a:ext cx="11640312" cy="384048"/>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11338560" cy="329184"/>
          </a:xfrm>
          <a:prstGeom prst="rect">
            <a:avLst/>
          </a:prstGeom>
          <a:noFill/>
        </p:spPr>
        <p:txBody>
          <a:bodyPr wrap="square">
            <a:spAutoFit/>
          </a:bodyPr>
          <a:lstStyle/>
          <a:p>
            <a:pPr algn="l"/>
            <a:r>
              <a:rPr sz="1300" b="1" i="0">
                <a:solidFill>
                  <a:srgbClr val="FFFFFF"/>
                </a:solidFill>
              </a:rPr>
              <a:t>OVERALL LOOP HYPOTHESIS</a:t>
            </a:r>
          </a:p>
        </p:txBody>
      </p:sp>
      <p:sp>
        <p:nvSpPr>
          <p:cNvPr id="7" name="Rectangle 6"/>
          <p:cNvSpPr/>
          <p:nvPr/>
        </p:nvSpPr>
        <p:spPr>
          <a:xfrm>
            <a:off x="274320" y="1527048"/>
            <a:ext cx="11640312" cy="64008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45336"/>
            <a:ext cx="11338560" cy="594360"/>
          </a:xfrm>
          <a:prstGeom prst="rect">
            <a:avLst/>
          </a:prstGeom>
          <a:noFill/>
        </p:spPr>
        <p:txBody>
          <a:bodyPr wrap="square">
            <a:spAutoFit/>
          </a:bodyPr>
          <a:lstStyle/>
          <a:p>
            <a:pPr algn="l"/>
            <a:r>
              <a:rPr sz="1300" b="0" i="0">
                <a:solidFill>
                  <a:srgbClr val="1A1A2E"/>
                </a:solidFill>
              </a:rPr>
              <a:t>If we make it easy and rewarding for existing customers to share their snack box experience, their peer endorsements will act as authentic social proof that increases new visitor sessions and converts them at a higher rate, compounding subscriber growth each month.</a:t>
            </a:r>
          </a:p>
        </p:txBody>
      </p:sp>
      <p:sp>
        <p:nvSpPr>
          <p:cNvPr id="9" name="Rectangle 8"/>
          <p:cNvSpPr/>
          <p:nvPr/>
        </p:nvSpPr>
        <p:spPr>
          <a:xfrm>
            <a:off x="274320" y="2258568"/>
            <a:ext cx="2286000" cy="96012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20040" y="2304288"/>
            <a:ext cx="2194560" cy="868680"/>
          </a:xfrm>
          <a:prstGeom prst="rect">
            <a:avLst/>
          </a:prstGeom>
          <a:noFill/>
        </p:spPr>
        <p:txBody>
          <a:bodyPr wrap="square">
            <a:spAutoFit/>
          </a:bodyPr>
          <a:lstStyle/>
          <a:p>
            <a:pPr algn="ctr"/>
            <a:r>
              <a:rPr sz="1300" b="1" i="0">
                <a:solidFill>
                  <a:srgbClr val="FFFFFF"/>
                </a:solidFill>
              </a:rPr>
              <a:t>Step 1 → Step 2</a:t>
            </a:r>
          </a:p>
        </p:txBody>
      </p:sp>
      <p:sp>
        <p:nvSpPr>
          <p:cNvPr id="11" name="Rectangle 10"/>
          <p:cNvSpPr/>
          <p:nvPr/>
        </p:nvSpPr>
        <p:spPr>
          <a:xfrm>
            <a:off x="2560320" y="2258568"/>
            <a:ext cx="93268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697480" y="2331720"/>
            <a:ext cx="9052560" cy="822960"/>
          </a:xfrm>
          <a:prstGeom prst="rect">
            <a:avLst/>
          </a:prstGeom>
          <a:noFill/>
        </p:spPr>
        <p:txBody>
          <a:bodyPr wrap="square">
            <a:spAutoFit/>
          </a:bodyPr>
          <a:lstStyle/>
          <a:p>
            <a:pPr algn="l"/>
            <a:r>
              <a:rPr sz="1300" b="0" i="0">
                <a:solidFill>
                  <a:srgbClr val="1A1A2E"/>
                </a:solidFill>
              </a:rPr>
              <a:t>Customers who already share at 36% unprompted will use a branded, incentivized 'Share My Box' feature at a significantly higher rate.</a:t>
            </a:r>
          </a:p>
        </p:txBody>
      </p:sp>
      <p:sp>
        <p:nvSpPr>
          <p:cNvPr id="13" name="Rectangle 12"/>
          <p:cNvSpPr/>
          <p:nvPr/>
        </p:nvSpPr>
        <p:spPr>
          <a:xfrm>
            <a:off x="274320" y="3291840"/>
            <a:ext cx="2286000" cy="960120"/>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337560"/>
            <a:ext cx="2194560" cy="868680"/>
          </a:xfrm>
          <a:prstGeom prst="rect">
            <a:avLst/>
          </a:prstGeom>
          <a:noFill/>
        </p:spPr>
        <p:txBody>
          <a:bodyPr wrap="square">
            <a:spAutoFit/>
          </a:bodyPr>
          <a:lstStyle/>
          <a:p>
            <a:pPr algn="ctr"/>
            <a:r>
              <a:rPr sz="1300" b="1" i="0">
                <a:solidFill>
                  <a:srgbClr val="FFFFFF"/>
                </a:solidFill>
              </a:rPr>
              <a:t>Step 2 → Step 3</a:t>
            </a:r>
          </a:p>
        </p:txBody>
      </p:sp>
      <p:sp>
        <p:nvSpPr>
          <p:cNvPr id="15" name="Rectangle 14"/>
          <p:cNvSpPr/>
          <p:nvPr/>
        </p:nvSpPr>
        <p:spPr>
          <a:xfrm>
            <a:off x="2560320" y="3291840"/>
            <a:ext cx="93268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697480" y="3364992"/>
            <a:ext cx="9052560" cy="822960"/>
          </a:xfrm>
          <a:prstGeom prst="rect">
            <a:avLst/>
          </a:prstGeom>
          <a:noFill/>
        </p:spPr>
        <p:txBody>
          <a:bodyPr wrap="square">
            <a:spAutoFit/>
          </a:bodyPr>
          <a:lstStyle/>
          <a:p>
            <a:pPr algn="l"/>
            <a:r>
              <a:rPr sz="1300" b="0" i="0">
                <a:solidFill>
                  <a:srgbClr val="1A1A2E"/>
                </a:solidFill>
              </a:rPr>
              <a:t>Social shares with branded photo cards and referral links will generate click-throughs that increase new visitor sessions from the social media channel.</a:t>
            </a:r>
          </a:p>
        </p:txBody>
      </p:sp>
      <p:sp>
        <p:nvSpPr>
          <p:cNvPr id="17" name="Rectangle 16"/>
          <p:cNvSpPr/>
          <p:nvPr/>
        </p:nvSpPr>
        <p:spPr>
          <a:xfrm>
            <a:off x="274320" y="4325112"/>
            <a:ext cx="2286000" cy="96012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 y="4370832"/>
            <a:ext cx="2194560" cy="868680"/>
          </a:xfrm>
          <a:prstGeom prst="rect">
            <a:avLst/>
          </a:prstGeom>
          <a:noFill/>
        </p:spPr>
        <p:txBody>
          <a:bodyPr wrap="square">
            <a:spAutoFit/>
          </a:bodyPr>
          <a:lstStyle/>
          <a:p>
            <a:pPr algn="ctr"/>
            <a:r>
              <a:rPr sz="1300" b="1" i="0">
                <a:solidFill>
                  <a:srgbClr val="FFFFFF"/>
                </a:solidFill>
              </a:rPr>
              <a:t>Step 3 → Step 4</a:t>
            </a:r>
          </a:p>
        </p:txBody>
      </p:sp>
      <p:sp>
        <p:nvSpPr>
          <p:cNvPr id="19" name="Rectangle 18"/>
          <p:cNvSpPr/>
          <p:nvPr/>
        </p:nvSpPr>
        <p:spPr>
          <a:xfrm>
            <a:off x="2560320" y="4325112"/>
            <a:ext cx="93268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697480" y="4398264"/>
            <a:ext cx="9052560" cy="822960"/>
          </a:xfrm>
          <a:prstGeom prst="rect">
            <a:avLst/>
          </a:prstGeom>
          <a:noFill/>
        </p:spPr>
        <p:txBody>
          <a:bodyPr wrap="square">
            <a:spAutoFit/>
          </a:bodyPr>
          <a:lstStyle/>
          <a:p>
            <a:pPr algn="l"/>
            <a:r>
              <a:rPr sz="1300" b="0" i="0">
                <a:solidFill>
                  <a:srgbClr val="1A1A2E"/>
                </a:solidFill>
              </a:rPr>
              <a:t>Visitors who arrive via a peer share will convert to subscribers at a higher rate than the baseline 3% because the peer endorsement reduces quality and reliability anxiety.</a:t>
            </a:r>
          </a:p>
        </p:txBody>
      </p:sp>
      <p:sp>
        <p:nvSpPr>
          <p:cNvPr id="21" name="Rectangle 20"/>
          <p:cNvSpPr/>
          <p:nvPr/>
        </p:nvSpPr>
        <p:spPr>
          <a:xfrm>
            <a:off x="274320" y="5358384"/>
            <a:ext cx="2286000" cy="960120"/>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5404104"/>
            <a:ext cx="2194560" cy="868680"/>
          </a:xfrm>
          <a:prstGeom prst="rect">
            <a:avLst/>
          </a:prstGeom>
          <a:noFill/>
        </p:spPr>
        <p:txBody>
          <a:bodyPr wrap="square">
            <a:spAutoFit/>
          </a:bodyPr>
          <a:lstStyle/>
          <a:p>
            <a:pPr algn="ctr"/>
            <a:r>
              <a:rPr sz="1300" b="1" i="0">
                <a:solidFill>
                  <a:srgbClr val="FFFFFF"/>
                </a:solidFill>
              </a:rPr>
              <a:t>Step 4 → Step 5</a:t>
            </a:r>
          </a:p>
        </p:txBody>
      </p:sp>
      <p:sp>
        <p:nvSpPr>
          <p:cNvPr id="23" name="Rectangle 22"/>
          <p:cNvSpPr/>
          <p:nvPr/>
        </p:nvSpPr>
        <p:spPr>
          <a:xfrm>
            <a:off x="2560320" y="5358384"/>
            <a:ext cx="93268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697480" y="5431536"/>
            <a:ext cx="9052560" cy="822960"/>
          </a:xfrm>
          <a:prstGeom prst="rect">
            <a:avLst/>
          </a:prstGeom>
          <a:noFill/>
        </p:spPr>
        <p:txBody>
          <a:bodyPr wrap="square">
            <a:spAutoFit/>
          </a:bodyPr>
          <a:lstStyle/>
          <a:p>
            <a:pPr algn="l"/>
            <a:r>
              <a:rPr sz="1300" b="0" i="0">
                <a:solidFill>
                  <a:srgbClr val="1A1A2E"/>
                </a:solidFill>
              </a:rPr>
              <a:t>New subscribers, having been recruited via a share, will be primed to share their own first-box experience, sustaining and compounding the loop over subsequent months.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Hypotheses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Primary and Secondary Hypotheses</a:t>
            </a:r>
          </a:p>
        </p:txBody>
      </p:sp>
      <p:sp>
        <p:nvSpPr>
          <p:cNvPr id="5" name="Rectangle 4"/>
          <p:cNvSpPr/>
          <p:nvPr/>
        </p:nvSpPr>
        <p:spPr>
          <a:xfrm>
            <a:off x="274320" y="1143000"/>
            <a:ext cx="11640312" cy="384048"/>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11338560" cy="329184"/>
          </a:xfrm>
          <a:prstGeom prst="rect">
            <a:avLst/>
          </a:prstGeom>
          <a:noFill/>
        </p:spPr>
        <p:txBody>
          <a:bodyPr wrap="square">
            <a:spAutoFit/>
          </a:bodyPr>
          <a:lstStyle/>
          <a:p>
            <a:pPr algn="l"/>
            <a:r>
              <a:rPr sz="1400" b="1" i="0">
                <a:solidFill>
                  <a:srgbClr val="FFFFFF"/>
                </a:solidFill>
              </a:rPr>
              <a:t>PRIMARY HYPOTHESIS</a:t>
            </a:r>
          </a:p>
        </p:txBody>
      </p:sp>
      <p:sp>
        <p:nvSpPr>
          <p:cNvPr id="7" name="Rectangle 6"/>
          <p:cNvSpPr/>
          <p:nvPr/>
        </p:nvSpPr>
        <p:spPr>
          <a:xfrm>
            <a:off x="274320" y="1527048"/>
            <a:ext cx="11640312" cy="914400"/>
          </a:xfrm>
          <a:prstGeom prst="rect">
            <a:avLst/>
          </a:prstGeom>
          <a:solidFill>
            <a:srgbClr val="FFF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 y="1554480"/>
            <a:ext cx="11338560" cy="868680"/>
          </a:xfrm>
          <a:prstGeom prst="rect">
            <a:avLst/>
          </a:prstGeom>
          <a:noFill/>
        </p:spPr>
        <p:txBody>
          <a:bodyPr wrap="square">
            <a:spAutoFit/>
          </a:bodyPr>
          <a:lstStyle/>
          <a:p>
            <a:pPr algn="l"/>
            <a:r>
              <a:rPr sz="1300" b="0" i="0">
                <a:solidFill>
                  <a:srgbClr val="1A1A2E"/>
                </a:solidFill>
              </a:rPr>
              <a:t>If we build a frictionless 'Share My Box' feature that incentivizes existing customers to share their snack box experience on social media, we will increase the social media referral acquisition channel (currently 18%) and new visitor conversion rate, resulting in 20% month-over-month growth in new monthly subscribed users.</a:t>
            </a:r>
          </a:p>
        </p:txBody>
      </p:sp>
      <p:sp>
        <p:nvSpPr>
          <p:cNvPr id="9" name="Rectangle 8"/>
          <p:cNvSpPr/>
          <p:nvPr/>
        </p:nvSpPr>
        <p:spPr>
          <a:xfrm>
            <a:off x="274320" y="2560320"/>
            <a:ext cx="11640312"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2578608"/>
            <a:ext cx="11338560" cy="310896"/>
          </a:xfrm>
          <a:prstGeom prst="rect">
            <a:avLst/>
          </a:prstGeom>
          <a:noFill/>
        </p:spPr>
        <p:txBody>
          <a:bodyPr wrap="square">
            <a:spAutoFit/>
          </a:bodyPr>
          <a:lstStyle/>
          <a:p>
            <a:pPr algn="l"/>
            <a:r>
              <a:rPr sz="1400" b="1" i="0">
                <a:solidFill>
                  <a:srgbClr val="FFFFFF"/>
                </a:solidFill>
              </a:rPr>
              <a:t>SECONDARY HYPOTHESES</a:t>
            </a:r>
          </a:p>
        </p:txBody>
      </p:sp>
      <p:sp>
        <p:nvSpPr>
          <p:cNvPr id="11" name="Rectangle 10"/>
          <p:cNvSpPr/>
          <p:nvPr/>
        </p:nvSpPr>
        <p:spPr>
          <a:xfrm>
            <a:off x="274320" y="3017520"/>
            <a:ext cx="2103120" cy="74980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3063239"/>
            <a:ext cx="2011680" cy="658368"/>
          </a:xfrm>
          <a:prstGeom prst="rect">
            <a:avLst/>
          </a:prstGeom>
          <a:noFill/>
        </p:spPr>
        <p:txBody>
          <a:bodyPr wrap="square">
            <a:spAutoFit/>
          </a:bodyPr>
          <a:lstStyle/>
          <a:p>
            <a:pPr algn="ctr"/>
            <a:r>
              <a:rPr sz="1100" b="1" i="0">
                <a:solidFill>
                  <a:srgbClr val="FFFFFF"/>
                </a:solidFill>
              </a:rPr>
              <a:t>H1: SHARING RATE</a:t>
            </a:r>
          </a:p>
        </p:txBody>
      </p:sp>
      <p:sp>
        <p:nvSpPr>
          <p:cNvPr id="13" name="Rectangle 12"/>
          <p:cNvSpPr/>
          <p:nvPr/>
        </p:nvSpPr>
        <p:spPr>
          <a:xfrm>
            <a:off x="2377440" y="3017520"/>
            <a:ext cx="9509760"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14600" y="3081527"/>
            <a:ext cx="9235440" cy="621792"/>
          </a:xfrm>
          <a:prstGeom prst="rect">
            <a:avLst/>
          </a:prstGeom>
          <a:noFill/>
        </p:spPr>
        <p:txBody>
          <a:bodyPr wrap="square">
            <a:spAutoFit/>
          </a:bodyPr>
          <a:lstStyle/>
          <a:p>
            <a:pPr algn="l"/>
            <a:r>
              <a:rPr sz="1200" b="0" i="0">
                <a:solidFill>
                  <a:srgbClr val="1A1A2E"/>
                </a:solidFill>
              </a:rPr>
              <a:t>Existing customers (36% of whom already share organically) will adopt the 'Share My Box' feature at a higher rate when given a branded tool with loyalty point incentives.</a:t>
            </a:r>
          </a:p>
        </p:txBody>
      </p:sp>
      <p:sp>
        <p:nvSpPr>
          <p:cNvPr id="15" name="Rectangle 14"/>
          <p:cNvSpPr/>
          <p:nvPr/>
        </p:nvSpPr>
        <p:spPr>
          <a:xfrm>
            <a:off x="274320" y="3886200"/>
            <a:ext cx="2103120" cy="74980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3931920"/>
            <a:ext cx="2011680" cy="658368"/>
          </a:xfrm>
          <a:prstGeom prst="rect">
            <a:avLst/>
          </a:prstGeom>
          <a:noFill/>
        </p:spPr>
        <p:txBody>
          <a:bodyPr wrap="square">
            <a:spAutoFit/>
          </a:bodyPr>
          <a:lstStyle/>
          <a:p>
            <a:pPr algn="ctr"/>
            <a:r>
              <a:rPr sz="1100" b="1" i="0">
                <a:solidFill>
                  <a:srgbClr val="FFFFFF"/>
                </a:solidFill>
              </a:rPr>
              <a:t>H2: REFERRAL TRAFFIC</a:t>
            </a:r>
          </a:p>
        </p:txBody>
      </p:sp>
      <p:sp>
        <p:nvSpPr>
          <p:cNvPr id="17" name="Rectangle 16"/>
          <p:cNvSpPr/>
          <p:nvPr/>
        </p:nvSpPr>
        <p:spPr>
          <a:xfrm>
            <a:off x="2377440" y="3886200"/>
            <a:ext cx="9509760"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514600" y="3950208"/>
            <a:ext cx="9235440" cy="621792"/>
          </a:xfrm>
          <a:prstGeom prst="rect">
            <a:avLst/>
          </a:prstGeom>
          <a:noFill/>
        </p:spPr>
        <p:txBody>
          <a:bodyPr wrap="square">
            <a:spAutoFit/>
          </a:bodyPr>
          <a:lstStyle/>
          <a:p>
            <a:pPr algn="l"/>
            <a:r>
              <a:rPr sz="1200" b="0" i="0">
                <a:solidFill>
                  <a:srgbClr val="1A1A2E"/>
                </a:solidFill>
              </a:rPr>
              <a:t>Authentic peer-generated snack box content shared via the feature will drive measurable increases in new visitor sessions from the social media acquisition channel.</a:t>
            </a:r>
          </a:p>
        </p:txBody>
      </p:sp>
      <p:sp>
        <p:nvSpPr>
          <p:cNvPr id="19" name="Rectangle 18"/>
          <p:cNvSpPr/>
          <p:nvPr/>
        </p:nvSpPr>
        <p:spPr>
          <a:xfrm>
            <a:off x="274320" y="4754879"/>
            <a:ext cx="2103120" cy="74980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20040" y="4800599"/>
            <a:ext cx="2011680" cy="658368"/>
          </a:xfrm>
          <a:prstGeom prst="rect">
            <a:avLst/>
          </a:prstGeom>
          <a:noFill/>
        </p:spPr>
        <p:txBody>
          <a:bodyPr wrap="square">
            <a:spAutoFit/>
          </a:bodyPr>
          <a:lstStyle/>
          <a:p>
            <a:pPr algn="ctr"/>
            <a:r>
              <a:rPr sz="1100" b="1" i="0">
                <a:solidFill>
                  <a:srgbClr val="FFFFFF"/>
                </a:solidFill>
              </a:rPr>
              <a:t>H3: CONVERSION LIFT</a:t>
            </a:r>
          </a:p>
        </p:txBody>
      </p:sp>
      <p:sp>
        <p:nvSpPr>
          <p:cNvPr id="21" name="Rectangle 20"/>
          <p:cNvSpPr/>
          <p:nvPr/>
        </p:nvSpPr>
        <p:spPr>
          <a:xfrm>
            <a:off x="2377440" y="4754879"/>
            <a:ext cx="9509760"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514600" y="4818888"/>
            <a:ext cx="9235440" cy="621792"/>
          </a:xfrm>
          <a:prstGeom prst="rect">
            <a:avLst/>
          </a:prstGeom>
          <a:noFill/>
        </p:spPr>
        <p:txBody>
          <a:bodyPr wrap="square">
            <a:spAutoFit/>
          </a:bodyPr>
          <a:lstStyle/>
          <a:p>
            <a:pPr algn="l"/>
            <a:r>
              <a:rPr sz="1200" b="0" i="0">
                <a:solidFill>
                  <a:srgbClr val="1A1A2E"/>
                </a:solidFill>
              </a:rPr>
              <a:t>New visitors arriving via a peer's share link will convert to paid subscribers at a statistically higher rate than the current 3% baseline due to reduced trust barriers.</a:t>
            </a:r>
          </a:p>
        </p:txBody>
      </p:sp>
      <p:sp>
        <p:nvSpPr>
          <p:cNvPr id="23" name="Rectangle 22"/>
          <p:cNvSpPr/>
          <p:nvPr/>
        </p:nvSpPr>
        <p:spPr>
          <a:xfrm>
            <a:off x="274320" y="5623559"/>
            <a:ext cx="2103120" cy="74980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5669279"/>
            <a:ext cx="2011680" cy="658368"/>
          </a:xfrm>
          <a:prstGeom prst="rect">
            <a:avLst/>
          </a:prstGeom>
          <a:noFill/>
        </p:spPr>
        <p:txBody>
          <a:bodyPr wrap="square">
            <a:spAutoFit/>
          </a:bodyPr>
          <a:lstStyle/>
          <a:p>
            <a:pPr algn="ctr"/>
            <a:r>
              <a:rPr sz="1100" b="1" i="0">
                <a:solidFill>
                  <a:srgbClr val="FFFFFF"/>
                </a:solidFill>
              </a:rPr>
              <a:t>H4: LOOP COMPOUNDING</a:t>
            </a:r>
          </a:p>
        </p:txBody>
      </p:sp>
      <p:sp>
        <p:nvSpPr>
          <p:cNvPr id="25" name="Rectangle 24"/>
          <p:cNvSpPr/>
          <p:nvPr/>
        </p:nvSpPr>
        <p:spPr>
          <a:xfrm>
            <a:off x="2377440" y="5623559"/>
            <a:ext cx="9509760" cy="74980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14600" y="5687568"/>
            <a:ext cx="9235440" cy="621792"/>
          </a:xfrm>
          <a:prstGeom prst="rect">
            <a:avLst/>
          </a:prstGeom>
          <a:noFill/>
        </p:spPr>
        <p:txBody>
          <a:bodyPr wrap="square">
            <a:spAutoFit/>
          </a:bodyPr>
          <a:lstStyle/>
          <a:p>
            <a:pPr algn="l"/>
            <a:r>
              <a:rPr sz="1200" b="0" i="0">
                <a:solidFill>
                  <a:srgbClr val="1A1A2E"/>
                </a:solidFill>
              </a:rPr>
              <a:t>New subscribers acquired through the loop will adopt the 'Share My Box' feature in their first month, sustaining and compounding the growth loop over subsequent months.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0"/>
            <a:ext cx="10972800" cy="914400"/>
          </a:xfrm>
          <a:prstGeom prst="rect">
            <a:avLst/>
          </a:prstGeom>
          <a:noFill/>
        </p:spPr>
        <p:txBody>
          <a:bodyPr wrap="square">
            <a:spAutoFit/>
          </a:bodyPr>
          <a:lstStyle/>
          <a:p>
            <a:pPr algn="ctr"/>
            <a:r>
              <a:rPr sz="2200" b="1" i="0">
                <a:solidFill>
                  <a:srgbClr val="E86B1A"/>
                </a:solidFill>
              </a:rPr>
              <a:t>PART 3</a:t>
            </a:r>
          </a:p>
        </p:txBody>
      </p:sp>
      <p:sp>
        <p:nvSpPr>
          <p:cNvPr id="4" name="TextBox 3"/>
          <p:cNvSpPr txBox="1"/>
          <p:nvPr/>
        </p:nvSpPr>
        <p:spPr>
          <a:xfrm>
            <a:off x="457200" y="2560320"/>
            <a:ext cx="10972800" cy="1371600"/>
          </a:xfrm>
          <a:prstGeom prst="rect">
            <a:avLst/>
          </a:prstGeom>
          <a:noFill/>
        </p:spPr>
        <p:txBody>
          <a:bodyPr wrap="square">
            <a:spAutoFit/>
          </a:bodyPr>
          <a:lstStyle/>
          <a:p>
            <a:pPr algn="ctr"/>
            <a:r>
              <a:rPr sz="4200" b="1" i="0">
                <a:solidFill>
                  <a:srgbClr val="FFFFFF"/>
                </a:solidFill>
              </a:rPr>
              <a:t>Validating the Path to Growth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A/B Testing: Goal and Metric</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Translating Hypotheses into Testable Questions</a:t>
            </a:r>
          </a:p>
        </p:txBody>
      </p:sp>
      <p:sp>
        <p:nvSpPr>
          <p:cNvPr id="5" name="Rectangle 4"/>
          <p:cNvSpPr/>
          <p:nvPr/>
        </p:nvSpPr>
        <p:spPr>
          <a:xfrm>
            <a:off x="274320" y="1143000"/>
            <a:ext cx="2011680" cy="1298448"/>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16152"/>
            <a:ext cx="1920240" cy="1188719"/>
          </a:xfrm>
          <a:prstGeom prst="rect">
            <a:avLst/>
          </a:prstGeom>
          <a:noFill/>
        </p:spPr>
        <p:txBody>
          <a:bodyPr wrap="square">
            <a:spAutoFit/>
          </a:bodyPr>
          <a:lstStyle/>
          <a:p>
            <a:pPr algn="l"/>
            <a:r>
              <a:rPr sz="900" b="1" i="0">
                <a:solidFill>
                  <a:srgbClr val="FFFFFF"/>
                </a:solidFill>
              </a:rPr>
              <a:t>PRIMARY TEST QUESTION</a:t>
            </a:r>
          </a:p>
        </p:txBody>
      </p:sp>
      <p:sp>
        <p:nvSpPr>
          <p:cNvPr id="7" name="Rectangle 6"/>
          <p:cNvSpPr/>
          <p:nvPr/>
        </p:nvSpPr>
        <p:spPr>
          <a:xfrm>
            <a:off x="2286000" y="1143000"/>
            <a:ext cx="9601200" cy="12984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77440" y="1188720"/>
            <a:ext cx="9418320" cy="329184"/>
          </a:xfrm>
          <a:prstGeom prst="rect">
            <a:avLst/>
          </a:prstGeom>
          <a:noFill/>
        </p:spPr>
        <p:txBody>
          <a:bodyPr wrap="square">
            <a:spAutoFit/>
          </a:bodyPr>
          <a:lstStyle/>
          <a:p>
            <a:pPr algn="l"/>
            <a:r>
              <a:rPr sz="1100" b="1" i="0">
                <a:solidFill>
                  <a:srgbClr val="1A1A2E"/>
                </a:solidFill>
              </a:rPr>
              <a:t>Does introducing the 'Share My Box' feature with loyalty incentives increase the rate at which active subscribers share their snack box experience on social media?</a:t>
            </a:r>
          </a:p>
        </p:txBody>
      </p:sp>
      <p:sp>
        <p:nvSpPr>
          <p:cNvPr id="9" name="TextBox 8"/>
          <p:cNvSpPr txBox="1"/>
          <p:nvPr/>
        </p:nvSpPr>
        <p:spPr>
          <a:xfrm>
            <a:off x="2377440" y="1536192"/>
            <a:ext cx="9326880" cy="841247"/>
          </a:xfrm>
          <a:prstGeom prst="rect">
            <a:avLst/>
          </a:prstGeom>
          <a:noFill/>
        </p:spPr>
        <p:txBody>
          <a:bodyPr wrap="square">
            <a:spAutoFit/>
          </a:bodyPr>
          <a:lstStyle/>
          <a:p>
            <a:pPr algn="l"/>
            <a:r>
              <a:rPr sz="1100">
                <a:solidFill>
                  <a:srgbClr val="1A1A2E"/>
                </a:solidFill>
              </a:rPr>
              <a:t>• Share Button Click Rate (% of MAU who click 'Share My Box')</a:t>
            </a:r>
          </a:p>
          <a:p>
            <a:pPr algn="l"/>
            <a:r>
              <a:rPr sz="1100">
                <a:solidFill>
                  <a:srgbClr val="1A1A2E"/>
                </a:solidFill>
              </a:rPr>
              <a:t>• Share Completion Rate (% of clicks that result in a published share)</a:t>
            </a:r>
          </a:p>
          <a:p>
            <a:pPr algn="l"/>
            <a:r>
              <a:rPr sz="1100">
                <a:solidFill>
                  <a:srgbClr val="1A1A2E"/>
                </a:solidFill>
              </a:rPr>
              <a:t>• Total Social Shares Generated per month (Group B vs. Group A)</a:t>
            </a:r>
          </a:p>
        </p:txBody>
      </p:sp>
      <p:sp>
        <p:nvSpPr>
          <p:cNvPr id="10" name="Rectangle 9"/>
          <p:cNvSpPr/>
          <p:nvPr/>
        </p:nvSpPr>
        <p:spPr>
          <a:xfrm>
            <a:off x="274320" y="2514600"/>
            <a:ext cx="2011680" cy="129844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2587752"/>
            <a:ext cx="1920240" cy="1188719"/>
          </a:xfrm>
          <a:prstGeom prst="rect">
            <a:avLst/>
          </a:prstGeom>
          <a:noFill/>
        </p:spPr>
        <p:txBody>
          <a:bodyPr wrap="square">
            <a:spAutoFit/>
          </a:bodyPr>
          <a:lstStyle/>
          <a:p>
            <a:pPr algn="l"/>
            <a:r>
              <a:rPr sz="900" b="1" i="0">
                <a:solidFill>
                  <a:srgbClr val="FFFFFF"/>
                </a:solidFill>
              </a:rPr>
              <a:t>SECONDARY TEST QUESTION 1</a:t>
            </a:r>
          </a:p>
        </p:txBody>
      </p:sp>
      <p:sp>
        <p:nvSpPr>
          <p:cNvPr id="12" name="Rectangle 11"/>
          <p:cNvSpPr/>
          <p:nvPr/>
        </p:nvSpPr>
        <p:spPr>
          <a:xfrm>
            <a:off x="2286000" y="2514600"/>
            <a:ext cx="9601200" cy="12984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377440" y="2560320"/>
            <a:ext cx="9418320" cy="329184"/>
          </a:xfrm>
          <a:prstGeom prst="rect">
            <a:avLst/>
          </a:prstGeom>
          <a:noFill/>
        </p:spPr>
        <p:txBody>
          <a:bodyPr wrap="square">
            <a:spAutoFit/>
          </a:bodyPr>
          <a:lstStyle/>
          <a:p>
            <a:pPr algn="l"/>
            <a:r>
              <a:rPr sz="1100" b="1" i="0">
                <a:solidFill>
                  <a:srgbClr val="1A1A2E"/>
                </a:solidFill>
              </a:rPr>
              <a:t>Do social shares generated via the feature drive new visitors to the landing page?</a:t>
            </a:r>
          </a:p>
        </p:txBody>
      </p:sp>
      <p:sp>
        <p:nvSpPr>
          <p:cNvPr id="14" name="TextBox 13"/>
          <p:cNvSpPr txBox="1"/>
          <p:nvPr/>
        </p:nvSpPr>
        <p:spPr>
          <a:xfrm>
            <a:off x="2377440" y="2907792"/>
            <a:ext cx="9326880" cy="841247"/>
          </a:xfrm>
          <a:prstGeom prst="rect">
            <a:avLst/>
          </a:prstGeom>
          <a:noFill/>
        </p:spPr>
        <p:txBody>
          <a:bodyPr wrap="square">
            <a:spAutoFit/>
          </a:bodyPr>
          <a:lstStyle/>
          <a:p>
            <a:pPr algn="l"/>
            <a:r>
              <a:rPr sz="1100">
                <a:solidFill>
                  <a:srgbClr val="1A1A2E"/>
                </a:solidFill>
              </a:rPr>
              <a:t>• New Visitor Sessions from social media channel (vs. baseline 12,600/month)</a:t>
            </a:r>
          </a:p>
          <a:p>
            <a:pPr algn="l"/>
            <a:r>
              <a:rPr sz="1100">
                <a:solidFill>
                  <a:srgbClr val="1A1A2E"/>
                </a:solidFill>
              </a:rPr>
              <a:t>• Social referral traffic as % of total new visitor sessions</a:t>
            </a:r>
          </a:p>
          <a:p>
            <a:pPr algn="l"/>
            <a:r>
              <a:rPr sz="1100">
                <a:solidFill>
                  <a:srgbClr val="1A1A2E"/>
                </a:solidFill>
              </a:rPr>
              <a:t>• Click-through rate on shared referral links</a:t>
            </a:r>
          </a:p>
        </p:txBody>
      </p:sp>
      <p:sp>
        <p:nvSpPr>
          <p:cNvPr id="15" name="Rectangle 14"/>
          <p:cNvSpPr/>
          <p:nvPr/>
        </p:nvSpPr>
        <p:spPr>
          <a:xfrm>
            <a:off x="274320" y="3886200"/>
            <a:ext cx="2011680" cy="129844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20040" y="3959352"/>
            <a:ext cx="1920240" cy="1188719"/>
          </a:xfrm>
          <a:prstGeom prst="rect">
            <a:avLst/>
          </a:prstGeom>
          <a:noFill/>
        </p:spPr>
        <p:txBody>
          <a:bodyPr wrap="square">
            <a:spAutoFit/>
          </a:bodyPr>
          <a:lstStyle/>
          <a:p>
            <a:pPr algn="l"/>
            <a:r>
              <a:rPr sz="900" b="1" i="0">
                <a:solidFill>
                  <a:srgbClr val="FFFFFF"/>
                </a:solidFill>
              </a:rPr>
              <a:t>SECONDARY TEST QUESTION 2</a:t>
            </a:r>
          </a:p>
        </p:txBody>
      </p:sp>
      <p:sp>
        <p:nvSpPr>
          <p:cNvPr id="17" name="Rectangle 16"/>
          <p:cNvSpPr/>
          <p:nvPr/>
        </p:nvSpPr>
        <p:spPr>
          <a:xfrm>
            <a:off x="2286000" y="3886200"/>
            <a:ext cx="9601200" cy="12984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377440" y="3931920"/>
            <a:ext cx="9418320" cy="329184"/>
          </a:xfrm>
          <a:prstGeom prst="rect">
            <a:avLst/>
          </a:prstGeom>
          <a:noFill/>
        </p:spPr>
        <p:txBody>
          <a:bodyPr wrap="square">
            <a:spAutoFit/>
          </a:bodyPr>
          <a:lstStyle/>
          <a:p>
            <a:pPr algn="l"/>
            <a:r>
              <a:rPr sz="1100" b="1" i="0">
                <a:solidFill>
                  <a:srgbClr val="1A1A2E"/>
                </a:solidFill>
              </a:rPr>
              <a:t>Do visitors arriving via peer shares convert to subscribers at a higher rate?</a:t>
            </a:r>
          </a:p>
        </p:txBody>
      </p:sp>
      <p:sp>
        <p:nvSpPr>
          <p:cNvPr id="19" name="TextBox 18"/>
          <p:cNvSpPr txBox="1"/>
          <p:nvPr/>
        </p:nvSpPr>
        <p:spPr>
          <a:xfrm>
            <a:off x="2377440" y="4279392"/>
            <a:ext cx="9326880" cy="841247"/>
          </a:xfrm>
          <a:prstGeom prst="rect">
            <a:avLst/>
          </a:prstGeom>
          <a:noFill/>
        </p:spPr>
        <p:txBody>
          <a:bodyPr wrap="square">
            <a:spAutoFit/>
          </a:bodyPr>
          <a:lstStyle/>
          <a:p>
            <a:pPr algn="l"/>
            <a:r>
              <a:rPr sz="1100">
                <a:solidFill>
                  <a:srgbClr val="1A1A2E"/>
                </a:solidFill>
              </a:rPr>
              <a:t>• Conversion rate for social-referred visitors (vs. 3% baseline)</a:t>
            </a:r>
          </a:p>
          <a:p>
            <a:pPr algn="l"/>
            <a:r>
              <a:rPr sz="1100">
                <a:solidFill>
                  <a:srgbClr val="1A1A2E"/>
                </a:solidFill>
              </a:rPr>
              <a:t>• New Monthly Subscribed Users from social referral channel</a:t>
            </a:r>
          </a:p>
          <a:p>
            <a:pPr algn="l"/>
            <a:r>
              <a:rPr sz="1100">
                <a:solidFill>
                  <a:srgbClr val="1A1A2E"/>
                </a:solidFill>
              </a:rPr>
              <a:t>• Time-to-conversion for referred visitors vs. organic visitors</a:t>
            </a:r>
          </a:p>
        </p:txBody>
      </p:sp>
      <p:sp>
        <p:nvSpPr>
          <p:cNvPr id="20" name="Rectangle 19"/>
          <p:cNvSpPr/>
          <p:nvPr/>
        </p:nvSpPr>
        <p:spPr>
          <a:xfrm>
            <a:off x="274320" y="5257800"/>
            <a:ext cx="2011680" cy="1298448"/>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20040" y="5330952"/>
            <a:ext cx="1920240" cy="1188719"/>
          </a:xfrm>
          <a:prstGeom prst="rect">
            <a:avLst/>
          </a:prstGeom>
          <a:noFill/>
        </p:spPr>
        <p:txBody>
          <a:bodyPr wrap="square">
            <a:spAutoFit/>
          </a:bodyPr>
          <a:lstStyle/>
          <a:p>
            <a:pPr algn="l"/>
            <a:r>
              <a:rPr sz="900" b="1" i="0">
                <a:solidFill>
                  <a:srgbClr val="FFFFFF"/>
                </a:solidFill>
              </a:rPr>
              <a:t>SECONDARY TEST QUESTION 3</a:t>
            </a:r>
          </a:p>
        </p:txBody>
      </p:sp>
      <p:sp>
        <p:nvSpPr>
          <p:cNvPr id="22" name="Rectangle 21"/>
          <p:cNvSpPr/>
          <p:nvPr/>
        </p:nvSpPr>
        <p:spPr>
          <a:xfrm>
            <a:off x="2286000" y="5257800"/>
            <a:ext cx="9601200" cy="129844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377440" y="5303520"/>
            <a:ext cx="9418320" cy="329184"/>
          </a:xfrm>
          <a:prstGeom prst="rect">
            <a:avLst/>
          </a:prstGeom>
          <a:noFill/>
        </p:spPr>
        <p:txBody>
          <a:bodyPr wrap="square">
            <a:spAutoFit/>
          </a:bodyPr>
          <a:lstStyle/>
          <a:p>
            <a:pPr algn="l"/>
            <a:r>
              <a:rPr sz="1100" b="1" i="0">
                <a:solidFill>
                  <a:srgbClr val="1A1A2E"/>
                </a:solidFill>
              </a:rPr>
              <a:t>Do new subscribers continue the sharing loop after receiving their first box?</a:t>
            </a:r>
          </a:p>
        </p:txBody>
      </p:sp>
      <p:sp>
        <p:nvSpPr>
          <p:cNvPr id="24" name="TextBox 23"/>
          <p:cNvSpPr txBox="1"/>
          <p:nvPr/>
        </p:nvSpPr>
        <p:spPr>
          <a:xfrm>
            <a:off x="2377440" y="5650992"/>
            <a:ext cx="9326880" cy="841247"/>
          </a:xfrm>
          <a:prstGeom prst="rect">
            <a:avLst/>
          </a:prstGeom>
          <a:noFill/>
        </p:spPr>
        <p:txBody>
          <a:bodyPr wrap="square">
            <a:spAutoFit/>
          </a:bodyPr>
          <a:lstStyle/>
          <a:p>
            <a:pPr algn="l"/>
            <a:r>
              <a:rPr sz="1100">
                <a:solidFill>
                  <a:srgbClr val="1A1A2E"/>
                </a:solidFill>
              </a:rPr>
              <a:t>• 'Share My Box' adoption rate among new subscribers in Month 1</a:t>
            </a:r>
          </a:p>
          <a:p>
            <a:pPr algn="l"/>
            <a:r>
              <a:rPr sz="1100">
                <a:solidFill>
                  <a:srgbClr val="1A1A2E"/>
                </a:solidFill>
              </a:rPr>
              <a:t>• Viral coefficient (K-factor): avg. new sign-ups generated per share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A/B Testing: Audience and Setup</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Who We Test and How We Control the Experiment</a:t>
            </a:r>
          </a:p>
        </p:txBody>
      </p:sp>
      <p:sp>
        <p:nvSpPr>
          <p:cNvPr id="5" name="Rectangle 4"/>
          <p:cNvSpPr/>
          <p:nvPr/>
        </p:nvSpPr>
        <p:spPr>
          <a:xfrm>
            <a:off x="274320" y="1143000"/>
            <a:ext cx="5394960" cy="38404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5120640" cy="329184"/>
          </a:xfrm>
          <a:prstGeom prst="rect">
            <a:avLst/>
          </a:prstGeom>
          <a:noFill/>
        </p:spPr>
        <p:txBody>
          <a:bodyPr wrap="square">
            <a:spAutoFit/>
          </a:bodyPr>
          <a:lstStyle/>
          <a:p>
            <a:pPr algn="l"/>
            <a:r>
              <a:rPr sz="1400" b="1" i="0">
                <a:solidFill>
                  <a:srgbClr val="FFFFFF"/>
                </a:solidFill>
              </a:rPr>
              <a:t>TEST AUDIENCE</a:t>
            </a:r>
          </a:p>
        </p:txBody>
      </p:sp>
      <p:sp>
        <p:nvSpPr>
          <p:cNvPr id="7" name="Rectangle 6"/>
          <p:cNvSpPr/>
          <p:nvPr/>
        </p:nvSpPr>
        <p:spPr>
          <a:xfrm>
            <a:off x="274320" y="1527048"/>
            <a:ext cx="5394960" cy="4846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600200"/>
            <a:ext cx="5120640" cy="4663440"/>
          </a:xfrm>
          <a:prstGeom prst="rect">
            <a:avLst/>
          </a:prstGeom>
          <a:noFill/>
        </p:spPr>
        <p:txBody>
          <a:bodyPr wrap="square">
            <a:spAutoFit/>
          </a:bodyPr>
          <a:lstStyle/>
          <a:p>
            <a:pPr algn="l"/>
            <a:r>
              <a:rPr sz="1200">
                <a:solidFill>
                  <a:srgbClr val="1A1A2E"/>
                </a:solidFill>
              </a:rPr>
              <a:t>Existing active subscribers (Monthly Active Users)</a:t>
            </a:r>
          </a:p>
          <a:p>
            <a:pPr algn="l"/>
            <a:r>
              <a:rPr sz="1200">
                <a:solidFill>
                  <a:srgbClr val="1A1A2E"/>
                </a:solidFill>
              </a:rPr>
              <a:t>~36,000 users who engaged meaningfully in the past month</a:t>
            </a:r>
          </a:p>
          <a:p>
            <a:pPr algn="l"/>
            <a:endParaRPr sz="1200">
              <a:solidFill>
                <a:srgbClr val="1A1A2E"/>
              </a:solidFill>
            </a:endParaRPr>
          </a:p>
          <a:p>
            <a:pPr algn="l"/>
            <a:r>
              <a:rPr sz="1200">
                <a:solidFill>
                  <a:srgbClr val="1A1A2E"/>
                </a:solidFill>
              </a:rPr>
              <a:t>Why this audience?</a:t>
            </a:r>
          </a:p>
          <a:p>
            <a:pPr algn="l"/>
            <a:r>
              <a:rPr sz="1200">
                <a:solidFill>
                  <a:srgbClr val="1A1A2E"/>
                </a:solidFill>
              </a:rPr>
              <a:t>• The first link in the growth loop is EXISTING customers</a:t>
            </a:r>
          </a:p>
          <a:p>
            <a:pPr algn="l"/>
            <a:r>
              <a:rPr sz="1200">
                <a:solidFill>
                  <a:srgbClr val="1A1A2E"/>
                </a:solidFill>
              </a:rPr>
              <a:t>  sharing: we must first validate that sharing behavior</a:t>
            </a:r>
          </a:p>
          <a:p>
            <a:pPr algn="l"/>
            <a:r>
              <a:rPr sz="1200">
                <a:solidFill>
                  <a:srgbClr val="1A1A2E"/>
                </a:solidFill>
              </a:rPr>
              <a:t>  increases before measuring downstream effects</a:t>
            </a:r>
          </a:p>
          <a:p>
            <a:pPr algn="l"/>
            <a:r>
              <a:rPr sz="1200">
                <a:solidFill>
                  <a:srgbClr val="1A1A2E"/>
                </a:solidFill>
              </a:rPr>
              <a:t>• Active users are the ones most likely to have</a:t>
            </a:r>
          </a:p>
          <a:p>
            <a:pPr algn="l"/>
            <a:r>
              <a:rPr sz="1200">
                <a:solidFill>
                  <a:srgbClr val="1A1A2E"/>
                </a:solidFill>
              </a:rPr>
              <a:t>  recently received a box and have genuine sharing intent</a:t>
            </a:r>
          </a:p>
          <a:p>
            <a:pPr algn="l"/>
            <a:r>
              <a:rPr sz="1200">
                <a:solidFill>
                  <a:srgbClr val="1A1A2E"/>
                </a:solidFill>
              </a:rPr>
              <a:t>• This group is large enough for statistical significance</a:t>
            </a:r>
          </a:p>
          <a:p>
            <a:pPr algn="l"/>
            <a:endParaRPr sz="1200">
              <a:solidFill>
                <a:srgbClr val="1A1A2E"/>
              </a:solidFill>
            </a:endParaRPr>
          </a:p>
          <a:p>
            <a:pPr algn="l"/>
            <a:r>
              <a:rPr sz="1200">
                <a:solidFill>
                  <a:srgbClr val="1A1A2E"/>
                </a:solidFill>
              </a:rPr>
              <a:t>Exclusions:</a:t>
            </a:r>
          </a:p>
          <a:p>
            <a:pPr algn="l"/>
            <a:r>
              <a:rPr sz="1200">
                <a:solidFill>
                  <a:srgbClr val="1A1A2E"/>
                </a:solidFill>
              </a:rPr>
              <a:t>• New subscribers (&lt; 1 month): haven't yet received a box</a:t>
            </a:r>
          </a:p>
          <a:p>
            <a:pPr algn="l"/>
            <a:r>
              <a:rPr sz="1200">
                <a:solidFill>
                  <a:srgbClr val="1A1A2E"/>
                </a:solidFill>
              </a:rPr>
              <a:t>• Inactive subscribers: no engagement signal to build on</a:t>
            </a:r>
          </a:p>
        </p:txBody>
      </p:sp>
      <p:sp>
        <p:nvSpPr>
          <p:cNvPr id="9" name="Rectangle 8"/>
          <p:cNvSpPr/>
          <p:nvPr/>
        </p:nvSpPr>
        <p:spPr>
          <a:xfrm>
            <a:off x="6400800" y="1143000"/>
            <a:ext cx="5486400" cy="384048"/>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161288"/>
            <a:ext cx="5212080" cy="329184"/>
          </a:xfrm>
          <a:prstGeom prst="rect">
            <a:avLst/>
          </a:prstGeom>
          <a:noFill/>
        </p:spPr>
        <p:txBody>
          <a:bodyPr wrap="square">
            <a:spAutoFit/>
          </a:bodyPr>
          <a:lstStyle/>
          <a:p>
            <a:pPr algn="l"/>
            <a:r>
              <a:rPr sz="1400" b="1" i="0">
                <a:solidFill>
                  <a:srgbClr val="FFFFFF"/>
                </a:solidFill>
              </a:rPr>
              <a:t>TEST SETUP</a:t>
            </a:r>
          </a:p>
        </p:txBody>
      </p:sp>
      <p:sp>
        <p:nvSpPr>
          <p:cNvPr id="11" name="Rectangle 10"/>
          <p:cNvSpPr/>
          <p:nvPr/>
        </p:nvSpPr>
        <p:spPr>
          <a:xfrm>
            <a:off x="6400800" y="1527048"/>
            <a:ext cx="5486400" cy="4846320"/>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600200"/>
            <a:ext cx="5257800" cy="4663440"/>
          </a:xfrm>
          <a:prstGeom prst="rect">
            <a:avLst/>
          </a:prstGeom>
          <a:noFill/>
        </p:spPr>
        <p:txBody>
          <a:bodyPr wrap="square">
            <a:spAutoFit/>
          </a:bodyPr>
          <a:lstStyle/>
          <a:p>
            <a:pPr algn="l"/>
            <a:r>
              <a:rPr sz="1200">
                <a:solidFill>
                  <a:srgbClr val="1A1A2E"/>
                </a:solidFill>
              </a:rPr>
              <a:t>50 / 50 random split of ~36,000 active users</a:t>
            </a:r>
          </a:p>
          <a:p>
            <a:pPr algn="l"/>
            <a:endParaRPr sz="1200">
              <a:solidFill>
                <a:srgbClr val="1A1A2E"/>
              </a:solidFill>
            </a:endParaRPr>
          </a:p>
          <a:p>
            <a:pPr algn="l"/>
            <a:r>
              <a:rPr sz="1200">
                <a:solidFill>
                  <a:srgbClr val="1A1A2E"/>
                </a:solidFill>
              </a:rPr>
              <a:t>GROUP A: CONTROL (18,000 users)</a:t>
            </a:r>
          </a:p>
          <a:p>
            <a:pPr algn="l"/>
            <a:r>
              <a:rPr sz="1200">
                <a:solidFill>
                  <a:srgbClr val="1A1A2E"/>
                </a:solidFill>
              </a:rPr>
              <a:t>  • No 'Share My Box' feature visible</a:t>
            </a:r>
          </a:p>
          <a:p>
            <a:pPr algn="l"/>
            <a:r>
              <a:rPr sz="1200">
                <a:solidFill>
                  <a:srgbClr val="1A1A2E"/>
                </a:solidFill>
              </a:rPr>
              <a:t>  • Current platform experience unchanged</a:t>
            </a:r>
          </a:p>
          <a:p>
            <a:pPr algn="l"/>
            <a:r>
              <a:rPr sz="1200">
                <a:solidFill>
                  <a:srgbClr val="1A1A2E"/>
                </a:solidFill>
              </a:rPr>
              <a:t>  • Can still write reviews as before</a:t>
            </a:r>
          </a:p>
          <a:p>
            <a:pPr algn="l"/>
            <a:endParaRPr sz="1200">
              <a:solidFill>
                <a:srgbClr val="1A1A2E"/>
              </a:solidFill>
            </a:endParaRPr>
          </a:p>
          <a:p>
            <a:pPr algn="l"/>
            <a:r>
              <a:rPr sz="1200">
                <a:solidFill>
                  <a:srgbClr val="1A1A2E"/>
                </a:solidFill>
              </a:rPr>
              <a:t>GROUP B: VARIANT (18,000 users)</a:t>
            </a:r>
          </a:p>
          <a:p>
            <a:pPr algn="l"/>
            <a:r>
              <a:rPr sz="1200">
                <a:solidFill>
                  <a:srgbClr val="1A1A2E"/>
                </a:solidFill>
              </a:rPr>
              <a:t>  • 'Share My Box' feature enabled post-delivery</a:t>
            </a:r>
          </a:p>
          <a:p>
            <a:pPr algn="l"/>
            <a:r>
              <a:rPr sz="1200">
                <a:solidFill>
                  <a:srgbClr val="1A1A2E"/>
                </a:solidFill>
              </a:rPr>
              <a:t>  • Branded card, photo upload, referral link</a:t>
            </a:r>
          </a:p>
          <a:p>
            <a:pPr algn="l"/>
            <a:r>
              <a:rPr sz="1200">
                <a:solidFill>
                  <a:srgbClr val="1A1A2E"/>
                </a:solidFill>
              </a:rPr>
              <a:t>  • Loyalty points awarded per completed share</a:t>
            </a:r>
          </a:p>
          <a:p>
            <a:pPr algn="l"/>
            <a:r>
              <a:rPr sz="1200">
                <a:solidFill>
                  <a:srgbClr val="1A1A2E"/>
                </a:solidFill>
              </a:rPr>
              <a:t>  • New visitors from Group B shares tracked via</a:t>
            </a:r>
          </a:p>
          <a:p>
            <a:pPr algn="l"/>
            <a:r>
              <a:rPr sz="1200">
                <a:solidFill>
                  <a:srgbClr val="1A1A2E"/>
                </a:solidFill>
              </a:rPr>
              <a:t>    UTM-tagged referral links</a:t>
            </a:r>
          </a:p>
          <a:p>
            <a:pPr algn="l"/>
            <a:endParaRPr sz="1200">
              <a:solidFill>
                <a:srgbClr val="1A1A2E"/>
              </a:solidFill>
            </a:endParaRPr>
          </a:p>
          <a:p>
            <a:pPr algn="l"/>
            <a:r>
              <a:rPr sz="1200">
                <a:solidFill>
                  <a:srgbClr val="1A1A2E"/>
                </a:solidFill>
              </a:rPr>
              <a:t>Controls:</a:t>
            </a:r>
          </a:p>
          <a:p>
            <a:pPr algn="l"/>
            <a:r>
              <a:rPr sz="1200">
                <a:solidFill>
                  <a:srgbClr val="1A1A2E"/>
                </a:solidFill>
              </a:rPr>
              <a:t>  • Same snack box themes for both groups</a:t>
            </a:r>
          </a:p>
          <a:p>
            <a:pPr algn="l"/>
            <a:r>
              <a:rPr sz="1200">
                <a:solidFill>
                  <a:srgbClr val="1A1A2E"/>
                </a:solidFill>
              </a:rPr>
              <a:t>  • Same communications (except feature intro email)</a:t>
            </a:r>
          </a:p>
          <a:p>
            <a:pPr algn="l"/>
            <a:r>
              <a:rPr sz="1200">
                <a:solidFill>
                  <a:srgbClr val="1A1A2E"/>
                </a:solidFill>
              </a:rPr>
              <a:t>  • Test duration: minimum 2 monthly cycles (2 months)</a:t>
            </a:r>
          </a:p>
          <a:p>
            <a:pPr algn="l"/>
            <a:r>
              <a:rPr sz="1200">
                <a:solidFill>
                  <a:srgbClr val="1A1A2E"/>
                </a:solidFill>
              </a:rPr>
              <a:t>  • Referred new visitors tagged for separate</a:t>
            </a:r>
          </a:p>
          <a:p>
            <a:pPr algn="l"/>
            <a:r>
              <a:rPr sz="1200">
                <a:solidFill>
                  <a:srgbClr val="1A1A2E"/>
                </a:solidFill>
              </a:rPr>
              <a:t>    conversion rate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A/B Testing Plan: Risks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Potential Faulty Assumptions and Mitigations</a:t>
            </a:r>
          </a:p>
        </p:txBody>
      </p:sp>
      <p:sp>
        <p:nvSpPr>
          <p:cNvPr id="5" name="Rectangle 4"/>
          <p:cNvSpPr/>
          <p:nvPr/>
        </p:nvSpPr>
        <p:spPr>
          <a:xfrm>
            <a:off x="274320" y="1143000"/>
            <a:ext cx="1828800" cy="1261872"/>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252728"/>
            <a:ext cx="1737360" cy="457200"/>
          </a:xfrm>
          <a:prstGeom prst="rect">
            <a:avLst/>
          </a:prstGeom>
          <a:noFill/>
        </p:spPr>
        <p:txBody>
          <a:bodyPr wrap="square">
            <a:spAutoFit/>
          </a:bodyPr>
          <a:lstStyle/>
          <a:p>
            <a:pPr algn="ctr"/>
            <a:r>
              <a:rPr sz="1000" b="1" i="0">
                <a:solidFill>
                  <a:srgbClr val="FFFFFF"/>
                </a:solidFill>
              </a:rPr>
              <a:t>RISK 1: SELECTION BIAS</a:t>
            </a:r>
          </a:p>
        </p:txBody>
      </p:sp>
      <p:sp>
        <p:nvSpPr>
          <p:cNvPr id="7" name="Rectangle 6"/>
          <p:cNvSpPr/>
          <p:nvPr/>
        </p:nvSpPr>
        <p:spPr>
          <a:xfrm>
            <a:off x="2103120" y="1143000"/>
            <a:ext cx="4754880" cy="12618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4560" y="1161288"/>
            <a:ext cx="822960" cy="274320"/>
          </a:xfrm>
          <a:prstGeom prst="rect">
            <a:avLst/>
          </a:prstGeom>
          <a:noFill/>
        </p:spPr>
        <p:txBody>
          <a:bodyPr wrap="square">
            <a:spAutoFit/>
          </a:bodyPr>
          <a:lstStyle/>
          <a:p>
            <a:pPr algn="l"/>
            <a:r>
              <a:rPr sz="1000" b="1" i="0">
                <a:solidFill>
                  <a:srgbClr val="BF550D"/>
                </a:solidFill>
              </a:rPr>
              <a:t>RISK:</a:t>
            </a:r>
          </a:p>
        </p:txBody>
      </p:sp>
      <p:sp>
        <p:nvSpPr>
          <p:cNvPr id="9" name="TextBox 8"/>
          <p:cNvSpPr txBox="1"/>
          <p:nvPr/>
        </p:nvSpPr>
        <p:spPr>
          <a:xfrm>
            <a:off x="2194560" y="1417320"/>
            <a:ext cx="4526280" cy="941831"/>
          </a:xfrm>
          <a:prstGeom prst="rect">
            <a:avLst/>
          </a:prstGeom>
          <a:noFill/>
        </p:spPr>
        <p:txBody>
          <a:bodyPr wrap="square">
            <a:spAutoFit/>
          </a:bodyPr>
          <a:lstStyle/>
          <a:p>
            <a:pPr algn="l"/>
            <a:r>
              <a:rPr sz="1100" b="0" i="0">
                <a:solidFill>
                  <a:srgbClr val="1A1A2E"/>
                </a:solidFill>
              </a:rPr>
              <a:t>Users with a prior history of sharing may be unevenly distributed between groups by chance, making Group B's share rate appear artificially high or low.</a:t>
            </a:r>
          </a:p>
        </p:txBody>
      </p:sp>
      <p:sp>
        <p:nvSpPr>
          <p:cNvPr id="10" name="Rectangle 9"/>
          <p:cNvSpPr/>
          <p:nvPr/>
        </p:nvSpPr>
        <p:spPr>
          <a:xfrm>
            <a:off x="6858000" y="1143000"/>
            <a:ext cx="5029200" cy="1261872"/>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49440" y="1161288"/>
            <a:ext cx="1005840" cy="274320"/>
          </a:xfrm>
          <a:prstGeom prst="rect">
            <a:avLst/>
          </a:prstGeom>
          <a:noFill/>
        </p:spPr>
        <p:txBody>
          <a:bodyPr wrap="square">
            <a:spAutoFit/>
          </a:bodyPr>
          <a:lstStyle/>
          <a:p>
            <a:pPr algn="l"/>
            <a:r>
              <a:rPr sz="1000" b="1" i="0">
                <a:solidFill>
                  <a:srgbClr val="005F5F"/>
                </a:solidFill>
              </a:rPr>
              <a:t>MITIGATION:</a:t>
            </a:r>
          </a:p>
        </p:txBody>
      </p:sp>
      <p:sp>
        <p:nvSpPr>
          <p:cNvPr id="12" name="TextBox 11"/>
          <p:cNvSpPr txBox="1"/>
          <p:nvPr/>
        </p:nvSpPr>
        <p:spPr>
          <a:xfrm>
            <a:off x="6949440" y="1417320"/>
            <a:ext cx="4800600" cy="941831"/>
          </a:xfrm>
          <a:prstGeom prst="rect">
            <a:avLst/>
          </a:prstGeom>
          <a:noFill/>
        </p:spPr>
        <p:txBody>
          <a:bodyPr wrap="square">
            <a:spAutoFit/>
          </a:bodyPr>
          <a:lstStyle/>
          <a:p>
            <a:pPr algn="l"/>
            <a:r>
              <a:rPr sz="1100" b="0" i="0">
                <a:solidFill>
                  <a:srgbClr val="1A1A2E"/>
                </a:solidFill>
              </a:rPr>
              <a:t>Stratified random assignment: ensure users who previously mentioned social sharing or who have shown high engagement are distributed proportionally across both groups.</a:t>
            </a:r>
          </a:p>
        </p:txBody>
      </p:sp>
      <p:sp>
        <p:nvSpPr>
          <p:cNvPr id="13" name="Rectangle 12"/>
          <p:cNvSpPr/>
          <p:nvPr/>
        </p:nvSpPr>
        <p:spPr>
          <a:xfrm>
            <a:off x="274320" y="2496312"/>
            <a:ext cx="1828800" cy="1261872"/>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2606040"/>
            <a:ext cx="1737360" cy="457200"/>
          </a:xfrm>
          <a:prstGeom prst="rect">
            <a:avLst/>
          </a:prstGeom>
          <a:noFill/>
        </p:spPr>
        <p:txBody>
          <a:bodyPr wrap="square">
            <a:spAutoFit/>
          </a:bodyPr>
          <a:lstStyle/>
          <a:p>
            <a:pPr algn="ctr"/>
            <a:r>
              <a:rPr sz="1000" b="1" i="0">
                <a:solidFill>
                  <a:srgbClr val="FFFFFF"/>
                </a:solidFill>
              </a:rPr>
              <a:t>RISK 2: NOVELTY EFFECT</a:t>
            </a:r>
          </a:p>
        </p:txBody>
      </p:sp>
      <p:sp>
        <p:nvSpPr>
          <p:cNvPr id="15" name="Rectangle 14"/>
          <p:cNvSpPr/>
          <p:nvPr/>
        </p:nvSpPr>
        <p:spPr>
          <a:xfrm>
            <a:off x="2103120" y="2496312"/>
            <a:ext cx="4754880" cy="12618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94560" y="2514600"/>
            <a:ext cx="822960" cy="274320"/>
          </a:xfrm>
          <a:prstGeom prst="rect">
            <a:avLst/>
          </a:prstGeom>
          <a:noFill/>
        </p:spPr>
        <p:txBody>
          <a:bodyPr wrap="square">
            <a:spAutoFit/>
          </a:bodyPr>
          <a:lstStyle/>
          <a:p>
            <a:pPr algn="l"/>
            <a:r>
              <a:rPr sz="1000" b="1" i="0">
                <a:solidFill>
                  <a:srgbClr val="BF550D"/>
                </a:solidFill>
              </a:rPr>
              <a:t>RISK:</a:t>
            </a:r>
          </a:p>
        </p:txBody>
      </p:sp>
      <p:sp>
        <p:nvSpPr>
          <p:cNvPr id="17" name="TextBox 16"/>
          <p:cNvSpPr txBox="1"/>
          <p:nvPr/>
        </p:nvSpPr>
        <p:spPr>
          <a:xfrm>
            <a:off x="2194560" y="2770632"/>
            <a:ext cx="4526280" cy="941831"/>
          </a:xfrm>
          <a:prstGeom prst="rect">
            <a:avLst/>
          </a:prstGeom>
          <a:noFill/>
        </p:spPr>
        <p:txBody>
          <a:bodyPr wrap="square">
            <a:spAutoFit/>
          </a:bodyPr>
          <a:lstStyle/>
          <a:p>
            <a:pPr algn="l"/>
            <a:r>
              <a:rPr sz="1100" b="0" i="0">
                <a:solidFill>
                  <a:srgbClr val="1A1A2E"/>
                </a:solidFill>
              </a:rPr>
              <a:t>Group B may show a spike in sharing activity purely because the feature is new and exciting, not because it drives sustained behavior change. This could lead to false confidence.</a:t>
            </a:r>
          </a:p>
        </p:txBody>
      </p:sp>
      <p:sp>
        <p:nvSpPr>
          <p:cNvPr id="18" name="Rectangle 17"/>
          <p:cNvSpPr/>
          <p:nvPr/>
        </p:nvSpPr>
        <p:spPr>
          <a:xfrm>
            <a:off x="6858000" y="2496312"/>
            <a:ext cx="5029200" cy="1261872"/>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514600"/>
            <a:ext cx="1005840" cy="274320"/>
          </a:xfrm>
          <a:prstGeom prst="rect">
            <a:avLst/>
          </a:prstGeom>
          <a:noFill/>
        </p:spPr>
        <p:txBody>
          <a:bodyPr wrap="square">
            <a:spAutoFit/>
          </a:bodyPr>
          <a:lstStyle/>
          <a:p>
            <a:pPr algn="l"/>
            <a:r>
              <a:rPr sz="1000" b="1" i="0">
                <a:solidFill>
                  <a:srgbClr val="005F5F"/>
                </a:solidFill>
              </a:rPr>
              <a:t>MITIGATION:</a:t>
            </a:r>
          </a:p>
        </p:txBody>
      </p:sp>
      <p:sp>
        <p:nvSpPr>
          <p:cNvPr id="20" name="TextBox 19"/>
          <p:cNvSpPr txBox="1"/>
          <p:nvPr/>
        </p:nvSpPr>
        <p:spPr>
          <a:xfrm>
            <a:off x="6949440" y="2770632"/>
            <a:ext cx="4800600" cy="941831"/>
          </a:xfrm>
          <a:prstGeom prst="rect">
            <a:avLst/>
          </a:prstGeom>
          <a:noFill/>
        </p:spPr>
        <p:txBody>
          <a:bodyPr wrap="square">
            <a:spAutoFit/>
          </a:bodyPr>
          <a:lstStyle/>
          <a:p>
            <a:pPr algn="l"/>
            <a:r>
              <a:rPr sz="1100" b="0" i="0">
                <a:solidFill>
                  <a:srgbClr val="1A1A2E"/>
                </a:solidFill>
              </a:rPr>
              <a:t>Run the test for at least 2 full monthly cycles. Monitor week-over-week share rates within the test to identify novelty spikes vs. stable adoption. Evaluate Month 2 data separately.</a:t>
            </a:r>
          </a:p>
        </p:txBody>
      </p:sp>
      <p:sp>
        <p:nvSpPr>
          <p:cNvPr id="21" name="Rectangle 20"/>
          <p:cNvSpPr/>
          <p:nvPr/>
        </p:nvSpPr>
        <p:spPr>
          <a:xfrm>
            <a:off x="274320" y="3849624"/>
            <a:ext cx="1828800" cy="1261872"/>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3959352"/>
            <a:ext cx="1737360" cy="457200"/>
          </a:xfrm>
          <a:prstGeom prst="rect">
            <a:avLst/>
          </a:prstGeom>
          <a:noFill/>
        </p:spPr>
        <p:txBody>
          <a:bodyPr wrap="square">
            <a:spAutoFit/>
          </a:bodyPr>
          <a:lstStyle/>
          <a:p>
            <a:pPr algn="ctr"/>
            <a:r>
              <a:rPr sz="1000" b="1" i="0">
                <a:solidFill>
                  <a:srgbClr val="FFFFFF"/>
                </a:solidFill>
              </a:rPr>
              <a:t>RISK 3: SOCIAL CONTAMINATION</a:t>
            </a:r>
          </a:p>
        </p:txBody>
      </p:sp>
      <p:sp>
        <p:nvSpPr>
          <p:cNvPr id="23" name="Rectangle 22"/>
          <p:cNvSpPr/>
          <p:nvPr/>
        </p:nvSpPr>
        <p:spPr>
          <a:xfrm>
            <a:off x="2103120" y="3849624"/>
            <a:ext cx="4754880" cy="12618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94560" y="3867911"/>
            <a:ext cx="822960" cy="274320"/>
          </a:xfrm>
          <a:prstGeom prst="rect">
            <a:avLst/>
          </a:prstGeom>
          <a:noFill/>
        </p:spPr>
        <p:txBody>
          <a:bodyPr wrap="square">
            <a:spAutoFit/>
          </a:bodyPr>
          <a:lstStyle/>
          <a:p>
            <a:pPr algn="l"/>
            <a:r>
              <a:rPr sz="1000" b="1" i="0">
                <a:solidFill>
                  <a:srgbClr val="BF550D"/>
                </a:solidFill>
              </a:rPr>
              <a:t>RISK:</a:t>
            </a:r>
          </a:p>
        </p:txBody>
      </p:sp>
      <p:sp>
        <p:nvSpPr>
          <p:cNvPr id="25" name="TextBox 24"/>
          <p:cNvSpPr txBox="1"/>
          <p:nvPr/>
        </p:nvSpPr>
        <p:spPr>
          <a:xfrm>
            <a:off x="2194560" y="4123944"/>
            <a:ext cx="4526280" cy="941831"/>
          </a:xfrm>
          <a:prstGeom prst="rect">
            <a:avLst/>
          </a:prstGeom>
          <a:noFill/>
        </p:spPr>
        <p:txBody>
          <a:bodyPr wrap="square">
            <a:spAutoFit/>
          </a:bodyPr>
          <a:lstStyle/>
          <a:p>
            <a:pPr algn="l"/>
            <a:r>
              <a:rPr sz="1100" b="0" i="0">
                <a:solidFill>
                  <a:srgbClr val="1A1A2E"/>
                </a:solidFill>
              </a:rPr>
              <a:t>Group A (control) users may see Group B shares on social media, become aware of the feature, and adjust their own behavior: contaminating the control group baseline.</a:t>
            </a:r>
          </a:p>
        </p:txBody>
      </p:sp>
      <p:sp>
        <p:nvSpPr>
          <p:cNvPr id="26" name="Rectangle 25"/>
          <p:cNvSpPr/>
          <p:nvPr/>
        </p:nvSpPr>
        <p:spPr>
          <a:xfrm>
            <a:off x="6858000" y="3849624"/>
            <a:ext cx="5029200" cy="1261872"/>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0" y="3867911"/>
            <a:ext cx="1005840" cy="274320"/>
          </a:xfrm>
          <a:prstGeom prst="rect">
            <a:avLst/>
          </a:prstGeom>
          <a:noFill/>
        </p:spPr>
        <p:txBody>
          <a:bodyPr wrap="square">
            <a:spAutoFit/>
          </a:bodyPr>
          <a:lstStyle/>
          <a:p>
            <a:pPr algn="l"/>
            <a:r>
              <a:rPr sz="1000" b="1" i="0">
                <a:solidFill>
                  <a:srgbClr val="005F5F"/>
                </a:solidFill>
              </a:rPr>
              <a:t>MITIGATION:</a:t>
            </a:r>
          </a:p>
        </p:txBody>
      </p:sp>
      <p:sp>
        <p:nvSpPr>
          <p:cNvPr id="28" name="TextBox 27"/>
          <p:cNvSpPr txBox="1"/>
          <p:nvPr/>
        </p:nvSpPr>
        <p:spPr>
          <a:xfrm>
            <a:off x="6949440" y="4123944"/>
            <a:ext cx="4800600" cy="941831"/>
          </a:xfrm>
          <a:prstGeom prst="rect">
            <a:avLst/>
          </a:prstGeom>
          <a:noFill/>
        </p:spPr>
        <p:txBody>
          <a:bodyPr wrap="square">
            <a:spAutoFit/>
          </a:bodyPr>
          <a:lstStyle/>
          <a:p>
            <a:pPr algn="l"/>
            <a:r>
              <a:rPr sz="1100" b="0" i="0">
                <a:solidFill>
                  <a:srgbClr val="1A1A2E"/>
                </a:solidFill>
              </a:rPr>
              <a:t>Accept this as a known limitation of social feature testing. Supplement quantitative data with a post-test survey of Group A users to assess feature awareness and behavioral impact.</a:t>
            </a:r>
          </a:p>
        </p:txBody>
      </p:sp>
      <p:sp>
        <p:nvSpPr>
          <p:cNvPr id="29" name="Rectangle 28"/>
          <p:cNvSpPr/>
          <p:nvPr/>
        </p:nvSpPr>
        <p:spPr>
          <a:xfrm>
            <a:off x="274320" y="5202936"/>
            <a:ext cx="1828800" cy="1261872"/>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320040" y="5312664"/>
            <a:ext cx="1737360" cy="457200"/>
          </a:xfrm>
          <a:prstGeom prst="rect">
            <a:avLst/>
          </a:prstGeom>
          <a:noFill/>
        </p:spPr>
        <p:txBody>
          <a:bodyPr wrap="square">
            <a:spAutoFit/>
          </a:bodyPr>
          <a:lstStyle/>
          <a:p>
            <a:pPr algn="ctr"/>
            <a:r>
              <a:rPr sz="1000" b="1" i="0">
                <a:solidFill>
                  <a:srgbClr val="FFFFFF"/>
                </a:solidFill>
              </a:rPr>
              <a:t>RISK 4: INCENTIVE INFLATION</a:t>
            </a:r>
          </a:p>
        </p:txBody>
      </p:sp>
      <p:sp>
        <p:nvSpPr>
          <p:cNvPr id="31" name="Rectangle 30"/>
          <p:cNvSpPr/>
          <p:nvPr/>
        </p:nvSpPr>
        <p:spPr>
          <a:xfrm>
            <a:off x="2103120" y="5202936"/>
            <a:ext cx="4754880" cy="1261872"/>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194560" y="5221223"/>
            <a:ext cx="822960" cy="274320"/>
          </a:xfrm>
          <a:prstGeom prst="rect">
            <a:avLst/>
          </a:prstGeom>
          <a:noFill/>
        </p:spPr>
        <p:txBody>
          <a:bodyPr wrap="square">
            <a:spAutoFit/>
          </a:bodyPr>
          <a:lstStyle/>
          <a:p>
            <a:pPr algn="l"/>
            <a:r>
              <a:rPr sz="1000" b="1" i="0">
                <a:solidFill>
                  <a:srgbClr val="BF550D"/>
                </a:solidFill>
              </a:rPr>
              <a:t>RISK:</a:t>
            </a:r>
          </a:p>
        </p:txBody>
      </p:sp>
      <p:sp>
        <p:nvSpPr>
          <p:cNvPr id="33" name="TextBox 32"/>
          <p:cNvSpPr txBox="1"/>
          <p:nvPr/>
        </p:nvSpPr>
        <p:spPr>
          <a:xfrm>
            <a:off x="2194560" y="5477255"/>
            <a:ext cx="4526280" cy="941831"/>
          </a:xfrm>
          <a:prstGeom prst="rect">
            <a:avLst/>
          </a:prstGeom>
          <a:noFill/>
        </p:spPr>
        <p:txBody>
          <a:bodyPr wrap="square">
            <a:spAutoFit/>
          </a:bodyPr>
          <a:lstStyle/>
          <a:p>
            <a:pPr algn="l"/>
            <a:r>
              <a:rPr sz="1100" b="0" i="0">
                <a:solidFill>
                  <a:srgbClr val="1A1A2E"/>
                </a:solidFill>
              </a:rPr>
              <a:t>Loyalty point incentives may drive low-quality or inauthentic shares (e.g., users share just to earn points, not from genuine enthusiasm), producing shares that generate no conversions.</a:t>
            </a:r>
          </a:p>
        </p:txBody>
      </p:sp>
      <p:sp>
        <p:nvSpPr>
          <p:cNvPr id="34" name="Rectangle 33"/>
          <p:cNvSpPr/>
          <p:nvPr/>
        </p:nvSpPr>
        <p:spPr>
          <a:xfrm>
            <a:off x="6858000" y="5202936"/>
            <a:ext cx="5029200" cy="1261872"/>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949440" y="5221223"/>
            <a:ext cx="1005840" cy="274320"/>
          </a:xfrm>
          <a:prstGeom prst="rect">
            <a:avLst/>
          </a:prstGeom>
          <a:noFill/>
        </p:spPr>
        <p:txBody>
          <a:bodyPr wrap="square">
            <a:spAutoFit/>
          </a:bodyPr>
          <a:lstStyle/>
          <a:p>
            <a:pPr algn="l"/>
            <a:r>
              <a:rPr sz="1000" b="1" i="0">
                <a:solidFill>
                  <a:srgbClr val="005F5F"/>
                </a:solidFill>
              </a:rPr>
              <a:t>MITIGATION:</a:t>
            </a:r>
          </a:p>
        </p:txBody>
      </p:sp>
      <p:sp>
        <p:nvSpPr>
          <p:cNvPr id="36" name="TextBox 35"/>
          <p:cNvSpPr txBox="1"/>
          <p:nvPr/>
        </p:nvSpPr>
        <p:spPr>
          <a:xfrm>
            <a:off x="6949440" y="5477255"/>
            <a:ext cx="4800600" cy="941831"/>
          </a:xfrm>
          <a:prstGeom prst="rect">
            <a:avLst/>
          </a:prstGeom>
          <a:noFill/>
        </p:spPr>
        <p:txBody>
          <a:bodyPr wrap="square">
            <a:spAutoFit/>
          </a:bodyPr>
          <a:lstStyle/>
          <a:p>
            <a:pPr algn="l"/>
            <a:r>
              <a:rPr sz="1100" b="0" i="0">
                <a:solidFill>
                  <a:srgbClr val="1A1A2E"/>
                </a:solidFill>
              </a:rPr>
              <a:t>Track share quality metrics alongside share volume: click-through rate on shared links, time-on-site of referred visitors, and conversion rate of referred visitors. Cap loyalty points per user per month to reduce gaming behavior.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Analysis and Next Steps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Anticipated Results and Actionable Responses</a:t>
            </a:r>
          </a:p>
        </p:txBody>
      </p:sp>
      <p:sp>
        <p:nvSpPr>
          <p:cNvPr id="5" name="Rectangle 4"/>
          <p:cNvSpPr/>
          <p:nvPr/>
        </p:nvSpPr>
        <p:spPr>
          <a:xfrm>
            <a:off x="274320" y="1143000"/>
            <a:ext cx="5577840" cy="384048"/>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5303520" cy="329184"/>
          </a:xfrm>
          <a:prstGeom prst="rect">
            <a:avLst/>
          </a:prstGeom>
          <a:noFill/>
        </p:spPr>
        <p:txBody>
          <a:bodyPr wrap="square">
            <a:spAutoFit/>
          </a:bodyPr>
          <a:lstStyle/>
          <a:p>
            <a:pPr algn="l"/>
            <a:r>
              <a:rPr sz="1300" b="1" i="0">
                <a:solidFill>
                  <a:srgbClr val="FFFFFF"/>
                </a:solidFill>
              </a:rPr>
              <a:t>IF PRIMARY HYPOTHESIS IS PROVEN TRUE</a:t>
            </a:r>
          </a:p>
        </p:txBody>
      </p:sp>
      <p:sp>
        <p:nvSpPr>
          <p:cNvPr id="7" name="Rectangle 6"/>
          <p:cNvSpPr/>
          <p:nvPr/>
        </p:nvSpPr>
        <p:spPr>
          <a:xfrm>
            <a:off x="274320" y="1527048"/>
            <a:ext cx="5577840" cy="2103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554480"/>
            <a:ext cx="5303520" cy="274320"/>
          </a:xfrm>
          <a:prstGeom prst="rect">
            <a:avLst/>
          </a:prstGeom>
          <a:noFill/>
        </p:spPr>
        <p:txBody>
          <a:bodyPr wrap="square">
            <a:spAutoFit/>
          </a:bodyPr>
          <a:lstStyle/>
          <a:p>
            <a:pPr algn="l"/>
            <a:r>
              <a:rPr sz="1200" b="1" i="0">
                <a:solidFill>
                  <a:srgbClr val="1A1A2E"/>
                </a:solidFill>
              </a:rPr>
              <a:t>Expected user behaviors to observe:</a:t>
            </a:r>
          </a:p>
        </p:txBody>
      </p:sp>
      <p:sp>
        <p:nvSpPr>
          <p:cNvPr id="9" name="TextBox 8"/>
          <p:cNvSpPr txBox="1"/>
          <p:nvPr/>
        </p:nvSpPr>
        <p:spPr>
          <a:xfrm>
            <a:off x="411480" y="1874519"/>
            <a:ext cx="5303520" cy="1691640"/>
          </a:xfrm>
          <a:prstGeom prst="rect">
            <a:avLst/>
          </a:prstGeom>
          <a:noFill/>
        </p:spPr>
        <p:txBody>
          <a:bodyPr wrap="square">
            <a:spAutoFit/>
          </a:bodyPr>
          <a:lstStyle/>
          <a:p>
            <a:pPr algn="l"/>
            <a:r>
              <a:rPr sz="1200">
                <a:solidFill>
                  <a:srgbClr val="1A1A2E"/>
                </a:solidFill>
              </a:rPr>
              <a:t>• Group B share rate is statistically significantly higher than Group A</a:t>
            </a:r>
          </a:p>
          <a:p>
            <a:pPr algn="l"/>
            <a:r>
              <a:rPr sz="1200">
                <a:solidFill>
                  <a:srgbClr val="1A1A2E"/>
                </a:solidFill>
              </a:rPr>
              <a:t>• Social media referral traffic increases as a % of new visitor acquisition</a:t>
            </a:r>
          </a:p>
          <a:p>
            <a:pPr algn="l"/>
            <a:r>
              <a:rPr sz="1200">
                <a:solidFill>
                  <a:srgbClr val="1A1A2E"/>
                </a:solidFill>
              </a:rPr>
              <a:t>• Referred visitors convert to subscribers at a rate &gt; 3% baseline</a:t>
            </a:r>
          </a:p>
          <a:p>
            <a:pPr algn="l"/>
            <a:r>
              <a:rPr sz="1200">
                <a:solidFill>
                  <a:srgbClr val="1A1A2E"/>
                </a:solidFill>
              </a:rPr>
              <a:t>• New subscribers from referred group show early adoption of 'Share My Box'</a:t>
            </a:r>
          </a:p>
        </p:txBody>
      </p:sp>
      <p:sp>
        <p:nvSpPr>
          <p:cNvPr id="10" name="Rectangle 9"/>
          <p:cNvSpPr/>
          <p:nvPr/>
        </p:nvSpPr>
        <p:spPr>
          <a:xfrm>
            <a:off x="274320" y="3703320"/>
            <a:ext cx="5577840" cy="320040"/>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3721608"/>
            <a:ext cx="5303520" cy="256032"/>
          </a:xfrm>
          <a:prstGeom prst="rect">
            <a:avLst/>
          </a:prstGeom>
          <a:noFill/>
        </p:spPr>
        <p:txBody>
          <a:bodyPr wrap="square">
            <a:spAutoFit/>
          </a:bodyPr>
          <a:lstStyle/>
          <a:p>
            <a:pPr algn="l"/>
            <a:r>
              <a:rPr sz="1200" b="1" i="0">
                <a:solidFill>
                  <a:srgbClr val="FFFFFF"/>
                </a:solidFill>
              </a:rPr>
              <a:t>Subsequent Analyses:</a:t>
            </a:r>
          </a:p>
        </p:txBody>
      </p:sp>
      <p:sp>
        <p:nvSpPr>
          <p:cNvPr id="12" name="Rectangle 11"/>
          <p:cNvSpPr/>
          <p:nvPr/>
        </p:nvSpPr>
        <p:spPr>
          <a:xfrm>
            <a:off x="274320" y="4023360"/>
            <a:ext cx="5577840" cy="2560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11480" y="4096512"/>
            <a:ext cx="5303520" cy="2377440"/>
          </a:xfrm>
          <a:prstGeom prst="rect">
            <a:avLst/>
          </a:prstGeom>
          <a:noFill/>
        </p:spPr>
        <p:txBody>
          <a:bodyPr wrap="square">
            <a:spAutoFit/>
          </a:bodyPr>
          <a:lstStyle/>
          <a:p>
            <a:pPr algn="l"/>
            <a:r>
              <a:rPr sz="1200">
                <a:solidFill>
                  <a:srgbClr val="1A1A2E"/>
                </a:solidFill>
              </a:rPr>
              <a:t>1. SEGMENTATION ANALYSIS: Which customer cohorts (theme preference,</a:t>
            </a:r>
          </a:p>
          <a:p>
            <a:pPr algn="l"/>
            <a:r>
              <a:rPr sz="1200">
                <a:solidFill>
                  <a:srgbClr val="1A1A2E"/>
                </a:solidFill>
              </a:rPr>
              <a:t>   tenure, past review activity) drive the highest share and conversion</a:t>
            </a:r>
          </a:p>
          <a:p>
            <a:pPr algn="l"/>
            <a:r>
              <a:rPr sz="1200">
                <a:solidFill>
                  <a:srgbClr val="1A1A2E"/>
                </a:solidFill>
              </a:rPr>
              <a:t>   rates? Use this to target feature rollout and personalize incentives.</a:t>
            </a:r>
          </a:p>
          <a:p>
            <a:pPr algn="l"/>
            <a:endParaRPr sz="1200">
              <a:solidFill>
                <a:srgbClr val="1A1A2E"/>
              </a:solidFill>
            </a:endParaRPr>
          </a:p>
          <a:p>
            <a:pPr algn="l"/>
            <a:r>
              <a:rPr sz="1200">
                <a:solidFill>
                  <a:srgbClr val="1A1A2E"/>
                </a:solidFill>
              </a:rPr>
              <a:t>2. VIRAL COEFFICIENT (K-FACTOR) ANALYSIS: Calculate K = (avg. shares</a:t>
            </a:r>
          </a:p>
          <a:p>
            <a:pPr algn="l"/>
            <a:r>
              <a:rPr sz="1200">
                <a:solidFill>
                  <a:srgbClr val="1A1A2E"/>
                </a:solidFill>
              </a:rPr>
              <a:t>   per user) × (conversion rate of referred visitors). If K &gt; 1, the loop</a:t>
            </a:r>
          </a:p>
          <a:p>
            <a:pPr algn="l"/>
            <a:r>
              <a:rPr sz="1200">
                <a:solidFill>
                  <a:srgbClr val="1A1A2E"/>
                </a:solidFill>
              </a:rPr>
              <a:t>   is self-sustaining. Project compounded growth over 3-6 months.</a:t>
            </a:r>
          </a:p>
        </p:txBody>
      </p:sp>
      <p:sp>
        <p:nvSpPr>
          <p:cNvPr id="14" name="Rectangle 13"/>
          <p:cNvSpPr/>
          <p:nvPr/>
        </p:nvSpPr>
        <p:spPr>
          <a:xfrm>
            <a:off x="6400800" y="1143000"/>
            <a:ext cx="5486400" cy="384048"/>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83680" y="1161288"/>
            <a:ext cx="5212080" cy="329184"/>
          </a:xfrm>
          <a:prstGeom prst="rect">
            <a:avLst/>
          </a:prstGeom>
          <a:noFill/>
        </p:spPr>
        <p:txBody>
          <a:bodyPr wrap="square">
            <a:spAutoFit/>
          </a:bodyPr>
          <a:lstStyle/>
          <a:p>
            <a:pPr algn="l"/>
            <a:r>
              <a:rPr sz="1300" b="1" i="0">
                <a:solidFill>
                  <a:srgbClr val="FFFFFF"/>
                </a:solidFill>
              </a:rPr>
              <a:t>IF PRIMARY HYPOTHESIS IS NOT PROVEN TRUE</a:t>
            </a:r>
          </a:p>
        </p:txBody>
      </p:sp>
      <p:sp>
        <p:nvSpPr>
          <p:cNvPr id="16" name="Rectangle 15"/>
          <p:cNvSpPr/>
          <p:nvPr/>
        </p:nvSpPr>
        <p:spPr>
          <a:xfrm>
            <a:off x="6400800" y="1527048"/>
            <a:ext cx="5486400" cy="2103120"/>
          </a:xfrm>
          <a:prstGeom prst="rect">
            <a:avLst/>
          </a:prstGeom>
          <a:solidFill>
            <a:srgbClr val="F2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537960" y="1554480"/>
            <a:ext cx="5257800" cy="274320"/>
          </a:xfrm>
          <a:prstGeom prst="rect">
            <a:avLst/>
          </a:prstGeom>
          <a:noFill/>
        </p:spPr>
        <p:txBody>
          <a:bodyPr wrap="square">
            <a:spAutoFit/>
          </a:bodyPr>
          <a:lstStyle/>
          <a:p>
            <a:pPr algn="l"/>
            <a:r>
              <a:rPr sz="1200" b="1" i="0">
                <a:solidFill>
                  <a:srgbClr val="1A1A2E"/>
                </a:solidFill>
              </a:rPr>
              <a:t>Expected user behaviors to observe:</a:t>
            </a:r>
          </a:p>
        </p:txBody>
      </p:sp>
      <p:sp>
        <p:nvSpPr>
          <p:cNvPr id="18" name="TextBox 17"/>
          <p:cNvSpPr txBox="1"/>
          <p:nvPr/>
        </p:nvSpPr>
        <p:spPr>
          <a:xfrm>
            <a:off x="6537960" y="1874519"/>
            <a:ext cx="5257800" cy="1691640"/>
          </a:xfrm>
          <a:prstGeom prst="rect">
            <a:avLst/>
          </a:prstGeom>
          <a:noFill/>
        </p:spPr>
        <p:txBody>
          <a:bodyPr wrap="square">
            <a:spAutoFit/>
          </a:bodyPr>
          <a:lstStyle/>
          <a:p>
            <a:pPr algn="l"/>
            <a:r>
              <a:rPr sz="1200">
                <a:solidFill>
                  <a:srgbClr val="1A1A2E"/>
                </a:solidFill>
              </a:rPr>
              <a:t>• Group B share rate is not meaningfully higher than Group A</a:t>
            </a:r>
          </a:p>
          <a:p>
            <a:pPr algn="l"/>
            <a:r>
              <a:rPr sz="1200">
                <a:solidFill>
                  <a:srgbClr val="1A1A2E"/>
                </a:solidFill>
              </a:rPr>
              <a:t>• Referral traffic does not increase relative to baseline</a:t>
            </a:r>
          </a:p>
          <a:p>
            <a:pPr algn="l"/>
            <a:r>
              <a:rPr sz="1200">
                <a:solidFill>
                  <a:srgbClr val="1A1A2E"/>
                </a:solidFill>
              </a:rPr>
              <a:t>• Referred visitors convert at the same or lower rate than 3%</a:t>
            </a:r>
          </a:p>
          <a:p>
            <a:pPr algn="l"/>
            <a:r>
              <a:rPr sz="1200">
                <a:solidFill>
                  <a:srgbClr val="1A1A2E"/>
                </a:solidFill>
              </a:rPr>
              <a:t>• Loyalty points are claimed but shares generate no meaningful click-throughs</a:t>
            </a:r>
          </a:p>
        </p:txBody>
      </p:sp>
      <p:sp>
        <p:nvSpPr>
          <p:cNvPr id="19" name="Rectangle 18"/>
          <p:cNvSpPr/>
          <p:nvPr/>
        </p:nvSpPr>
        <p:spPr>
          <a:xfrm>
            <a:off x="6400800" y="3703320"/>
            <a:ext cx="5486400" cy="320040"/>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0" y="3721608"/>
            <a:ext cx="5212080" cy="256032"/>
          </a:xfrm>
          <a:prstGeom prst="rect">
            <a:avLst/>
          </a:prstGeom>
          <a:noFill/>
        </p:spPr>
        <p:txBody>
          <a:bodyPr wrap="square">
            <a:spAutoFit/>
          </a:bodyPr>
          <a:lstStyle/>
          <a:p>
            <a:pPr algn="l"/>
            <a:r>
              <a:rPr sz="1200" b="1" i="0">
                <a:solidFill>
                  <a:srgbClr val="FFFFFF"/>
                </a:solidFill>
              </a:rPr>
              <a:t>Subsequent Analyses:</a:t>
            </a:r>
          </a:p>
        </p:txBody>
      </p:sp>
      <p:sp>
        <p:nvSpPr>
          <p:cNvPr id="21" name="Rectangle 20"/>
          <p:cNvSpPr/>
          <p:nvPr/>
        </p:nvSpPr>
        <p:spPr>
          <a:xfrm>
            <a:off x="6400800" y="4023360"/>
            <a:ext cx="5486400" cy="2560320"/>
          </a:xfrm>
          <a:prstGeom prst="rect">
            <a:avLst/>
          </a:prstGeom>
          <a:solidFill>
            <a:srgbClr val="F2E8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537960" y="4096512"/>
            <a:ext cx="5257800" cy="2377440"/>
          </a:xfrm>
          <a:prstGeom prst="rect">
            <a:avLst/>
          </a:prstGeom>
          <a:noFill/>
        </p:spPr>
        <p:txBody>
          <a:bodyPr wrap="square">
            <a:spAutoFit/>
          </a:bodyPr>
          <a:lstStyle/>
          <a:p>
            <a:pPr algn="l"/>
            <a:r>
              <a:rPr sz="1200">
                <a:solidFill>
                  <a:srgbClr val="1A1A2E"/>
                </a:solidFill>
              </a:rPr>
              <a:t>1. DROP-OFF ANALYSIS: Map exactly where users abandon the 'Share My</a:t>
            </a:r>
          </a:p>
          <a:p>
            <a:pPr algn="l"/>
            <a:r>
              <a:rPr sz="1200">
                <a:solidFill>
                  <a:srgbClr val="1A1A2E"/>
                </a:solidFill>
              </a:rPr>
              <a:t>   Box' flow. Is friction in feature UX, incentive structure, or platform</a:t>
            </a:r>
          </a:p>
          <a:p>
            <a:pPr algn="l"/>
            <a:r>
              <a:rPr sz="1200">
                <a:solidFill>
                  <a:srgbClr val="1A1A2E"/>
                </a:solidFill>
              </a:rPr>
              <a:t>   integration? Use funnel analytics and session recordings to diagnose.</a:t>
            </a:r>
          </a:p>
          <a:p>
            <a:pPr algn="l"/>
            <a:endParaRPr sz="1200">
              <a:solidFill>
                <a:srgbClr val="1A1A2E"/>
              </a:solidFill>
            </a:endParaRPr>
          </a:p>
          <a:p>
            <a:pPr algn="l"/>
            <a:r>
              <a:rPr sz="1200">
                <a:solidFill>
                  <a:srgbClr val="1A1A2E"/>
                </a:solidFill>
              </a:rPr>
              <a:t>2. QUALITATIVE STUDY: Survey Group B non-sharers: Is the loyalty point</a:t>
            </a:r>
          </a:p>
          <a:p>
            <a:pPr algn="l"/>
            <a:r>
              <a:rPr sz="1200">
                <a:solidFill>
                  <a:srgbClr val="1A1A2E"/>
                </a:solidFill>
              </a:rPr>
              <a:t>   incentive insufficient? Is there a privacy concern about sharing? Is</a:t>
            </a:r>
          </a:p>
          <a:p>
            <a:pPr algn="l"/>
            <a:r>
              <a:rPr sz="1200">
                <a:solidFill>
                  <a:srgbClr val="1A1A2E"/>
                </a:solidFill>
              </a:rPr>
              <a:t>   the feature confusing? Use findings to redesign the feature or incentive.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0"/>
            <a:ext cx="10972800" cy="914400"/>
          </a:xfrm>
          <a:prstGeom prst="rect">
            <a:avLst/>
          </a:prstGeom>
          <a:noFill/>
        </p:spPr>
        <p:txBody>
          <a:bodyPr wrap="square">
            <a:spAutoFit/>
          </a:bodyPr>
          <a:lstStyle/>
          <a:p>
            <a:pPr algn="ctr"/>
            <a:r>
              <a:rPr sz="2200" b="1" i="0">
                <a:solidFill>
                  <a:srgbClr val="E86B1A"/>
                </a:solidFill>
              </a:rPr>
              <a:t>PART 4</a:t>
            </a:r>
          </a:p>
        </p:txBody>
      </p:sp>
      <p:sp>
        <p:nvSpPr>
          <p:cNvPr id="4" name="TextBox 3"/>
          <p:cNvSpPr txBox="1"/>
          <p:nvPr/>
        </p:nvSpPr>
        <p:spPr>
          <a:xfrm>
            <a:off x="457200" y="2560320"/>
            <a:ext cx="10972800" cy="1371600"/>
          </a:xfrm>
          <a:prstGeom prst="rect">
            <a:avLst/>
          </a:prstGeom>
          <a:noFill/>
        </p:spPr>
        <p:txBody>
          <a:bodyPr wrap="square">
            <a:spAutoFit/>
          </a:bodyPr>
          <a:lstStyle/>
          <a:p>
            <a:pPr algn="ctr"/>
            <a:r>
              <a:rPr sz="4200" b="1" i="0">
                <a:solidFill>
                  <a:srgbClr val="FFFFFF"/>
                </a:solidFill>
              </a:rPr>
              <a:t>Developing the Growth Vision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Risks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Bottlenecks to Long-Term Sustainable Growth</a:t>
            </a:r>
          </a:p>
        </p:txBody>
      </p:sp>
      <p:sp>
        <p:nvSpPr>
          <p:cNvPr id="5" name="Rectangle 4"/>
          <p:cNvSpPr/>
          <p:nvPr/>
        </p:nvSpPr>
        <p:spPr>
          <a:xfrm>
            <a:off x="274320" y="1143000"/>
            <a:ext cx="1828800" cy="160020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20040" y="1344168"/>
            <a:ext cx="1737360" cy="1005840"/>
          </a:xfrm>
          <a:prstGeom prst="rect">
            <a:avLst/>
          </a:prstGeom>
          <a:noFill/>
        </p:spPr>
        <p:txBody>
          <a:bodyPr wrap="square">
            <a:spAutoFit/>
          </a:bodyPr>
          <a:lstStyle/>
          <a:p>
            <a:pPr algn="ctr"/>
            <a:r>
              <a:rPr sz="1200" b="1" i="0">
                <a:solidFill>
                  <a:srgbClr val="FFFFFF"/>
                </a:solidFill>
              </a:rPr>
              <a:t>CUSTOMER
RETENTION</a:t>
            </a:r>
          </a:p>
        </p:txBody>
      </p:sp>
      <p:sp>
        <p:nvSpPr>
          <p:cNvPr id="7" name="Rectangle 6"/>
          <p:cNvSpPr/>
          <p:nvPr/>
        </p:nvSpPr>
        <p:spPr>
          <a:xfrm>
            <a:off x="2103120" y="1143000"/>
            <a:ext cx="4754880" cy="1600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194560" y="1179576"/>
            <a:ext cx="777240" cy="256032"/>
          </a:xfrm>
          <a:prstGeom prst="rect">
            <a:avLst/>
          </a:prstGeom>
          <a:noFill/>
        </p:spPr>
        <p:txBody>
          <a:bodyPr wrap="square">
            <a:spAutoFit/>
          </a:bodyPr>
          <a:lstStyle/>
          <a:p>
            <a:pPr algn="l"/>
            <a:r>
              <a:rPr sz="1000" b="1" i="0">
                <a:solidFill>
                  <a:srgbClr val="BF550D"/>
                </a:solidFill>
              </a:rPr>
              <a:t>PROBLEM:</a:t>
            </a:r>
          </a:p>
        </p:txBody>
      </p:sp>
      <p:sp>
        <p:nvSpPr>
          <p:cNvPr id="9" name="TextBox 8"/>
          <p:cNvSpPr txBox="1"/>
          <p:nvPr/>
        </p:nvSpPr>
        <p:spPr>
          <a:xfrm>
            <a:off x="2194560" y="1435608"/>
            <a:ext cx="4526280" cy="1252728"/>
          </a:xfrm>
          <a:prstGeom prst="rect">
            <a:avLst/>
          </a:prstGeom>
          <a:noFill/>
        </p:spPr>
        <p:txBody>
          <a:bodyPr wrap="square">
            <a:spAutoFit/>
          </a:bodyPr>
          <a:lstStyle/>
          <a:p>
            <a:pPr algn="l"/>
            <a:r>
              <a:rPr sz="1100" b="0" i="0">
                <a:solidFill>
                  <a:srgbClr val="1A1A2E"/>
                </a:solidFill>
              </a:rPr>
              <a:t>The growth loop depends on EXISTING subscribers staying active and sharing. If subscriber churn is high, either from disappointment with box quality, theme fatigue, or price sensitivity: the pool of active sharers shrinks, the loop loses momentum, and compounding acquisition stalls. Currently only 30% of 120,000 subscribers are monthly active, meaning 70% are disengaged.</a:t>
            </a:r>
          </a:p>
        </p:txBody>
      </p:sp>
      <p:sp>
        <p:nvSpPr>
          <p:cNvPr id="10" name="Rectangle 9"/>
          <p:cNvSpPr/>
          <p:nvPr/>
        </p:nvSpPr>
        <p:spPr>
          <a:xfrm>
            <a:off x="6858000" y="1143000"/>
            <a:ext cx="5029200" cy="1600200"/>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49440" y="1179576"/>
            <a:ext cx="960120" cy="256032"/>
          </a:xfrm>
          <a:prstGeom prst="rect">
            <a:avLst/>
          </a:prstGeom>
          <a:noFill/>
        </p:spPr>
        <p:txBody>
          <a:bodyPr wrap="square">
            <a:spAutoFit/>
          </a:bodyPr>
          <a:lstStyle/>
          <a:p>
            <a:pPr algn="l"/>
            <a:r>
              <a:rPr sz="1000" b="1" i="0">
                <a:solidFill>
                  <a:srgbClr val="005F5F"/>
                </a:solidFill>
              </a:rPr>
              <a:t>SOLUTION:</a:t>
            </a:r>
          </a:p>
        </p:txBody>
      </p:sp>
      <p:sp>
        <p:nvSpPr>
          <p:cNvPr id="12" name="TextBox 11"/>
          <p:cNvSpPr txBox="1"/>
          <p:nvPr/>
        </p:nvSpPr>
        <p:spPr>
          <a:xfrm>
            <a:off x="6949440" y="1435608"/>
            <a:ext cx="4800600" cy="1252728"/>
          </a:xfrm>
          <a:prstGeom prst="rect">
            <a:avLst/>
          </a:prstGeom>
          <a:noFill/>
        </p:spPr>
        <p:txBody>
          <a:bodyPr wrap="square">
            <a:spAutoFit/>
          </a:bodyPr>
          <a:lstStyle/>
          <a:p>
            <a:pPr algn="l"/>
            <a:r>
              <a:rPr sz="1100" b="0" i="0">
                <a:solidFill>
                  <a:srgbClr val="1A1A2E"/>
                </a:solidFill>
              </a:rPr>
              <a:t>Invest in retention alongside acquisition: (1) introduce theme variety and personalization signals to reduce theme fatigue; (2) monitor Monthly Active User rate as a leading indicator, a declining MAU rate signals churn risk before it hits subscriber counts; (3) use the 'favorite snack' behavior (45% of MAU) as a re-engagement hook to draw lapsed subscribers back.</a:t>
            </a:r>
          </a:p>
        </p:txBody>
      </p:sp>
      <p:sp>
        <p:nvSpPr>
          <p:cNvPr id="13" name="Rectangle 12"/>
          <p:cNvSpPr/>
          <p:nvPr/>
        </p:nvSpPr>
        <p:spPr>
          <a:xfrm>
            <a:off x="274320" y="2898648"/>
            <a:ext cx="1828800" cy="1600200"/>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0040" y="3099816"/>
            <a:ext cx="1737360" cy="1005840"/>
          </a:xfrm>
          <a:prstGeom prst="rect">
            <a:avLst/>
          </a:prstGeom>
          <a:noFill/>
        </p:spPr>
        <p:txBody>
          <a:bodyPr wrap="square">
            <a:spAutoFit/>
          </a:bodyPr>
          <a:lstStyle/>
          <a:p>
            <a:pPr algn="ctr"/>
            <a:r>
              <a:rPr sz="1200" b="1" i="0">
                <a:solidFill>
                  <a:srgbClr val="FFFFFF"/>
                </a:solidFill>
              </a:rPr>
              <a:t>MARKET
SATURATION</a:t>
            </a:r>
          </a:p>
        </p:txBody>
      </p:sp>
      <p:sp>
        <p:nvSpPr>
          <p:cNvPr id="15" name="Rectangle 14"/>
          <p:cNvSpPr/>
          <p:nvPr/>
        </p:nvSpPr>
        <p:spPr>
          <a:xfrm>
            <a:off x="2103120" y="2898648"/>
            <a:ext cx="4754880" cy="1600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94560" y="2935224"/>
            <a:ext cx="777240" cy="256032"/>
          </a:xfrm>
          <a:prstGeom prst="rect">
            <a:avLst/>
          </a:prstGeom>
          <a:noFill/>
        </p:spPr>
        <p:txBody>
          <a:bodyPr wrap="square">
            <a:spAutoFit/>
          </a:bodyPr>
          <a:lstStyle/>
          <a:p>
            <a:pPr algn="l"/>
            <a:r>
              <a:rPr sz="1000" b="1" i="0">
                <a:solidFill>
                  <a:srgbClr val="BF550D"/>
                </a:solidFill>
              </a:rPr>
              <a:t>PROBLEM:</a:t>
            </a:r>
          </a:p>
        </p:txBody>
      </p:sp>
      <p:sp>
        <p:nvSpPr>
          <p:cNvPr id="17" name="TextBox 16"/>
          <p:cNvSpPr txBox="1"/>
          <p:nvPr/>
        </p:nvSpPr>
        <p:spPr>
          <a:xfrm>
            <a:off x="2194560" y="3191256"/>
            <a:ext cx="4526280" cy="1252728"/>
          </a:xfrm>
          <a:prstGeom prst="rect">
            <a:avLst/>
          </a:prstGeom>
          <a:noFill/>
        </p:spPr>
        <p:txBody>
          <a:bodyPr wrap="square">
            <a:spAutoFit/>
          </a:bodyPr>
          <a:lstStyle/>
          <a:p>
            <a:pPr algn="l"/>
            <a:r>
              <a:rPr sz="1100" b="0" i="0">
                <a:solidFill>
                  <a:srgbClr val="1A1A2E"/>
                </a:solidFill>
              </a:rPr>
              <a:t>The artisan/gourmet snack subscription market has a finite addressable audience. As Craft Snacks expands, it may exhaust its core segment (experience-seekers, $30/month commitment), causing share-to-conversion rates to decline even as sharing volume remains high. The loop slows not from lack of sharing, but from lack of unconverted potential customers remaining in the market.</a:t>
            </a:r>
          </a:p>
        </p:txBody>
      </p:sp>
      <p:sp>
        <p:nvSpPr>
          <p:cNvPr id="18" name="Rectangle 17"/>
          <p:cNvSpPr/>
          <p:nvPr/>
        </p:nvSpPr>
        <p:spPr>
          <a:xfrm>
            <a:off x="6858000" y="2898648"/>
            <a:ext cx="5029200" cy="1600200"/>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935224"/>
            <a:ext cx="960120" cy="256032"/>
          </a:xfrm>
          <a:prstGeom prst="rect">
            <a:avLst/>
          </a:prstGeom>
          <a:noFill/>
        </p:spPr>
        <p:txBody>
          <a:bodyPr wrap="square">
            <a:spAutoFit/>
          </a:bodyPr>
          <a:lstStyle/>
          <a:p>
            <a:pPr algn="l"/>
            <a:r>
              <a:rPr sz="1000" b="1" i="0">
                <a:solidFill>
                  <a:srgbClr val="005F5F"/>
                </a:solidFill>
              </a:rPr>
              <a:t>SOLUTION:</a:t>
            </a:r>
          </a:p>
        </p:txBody>
      </p:sp>
      <p:sp>
        <p:nvSpPr>
          <p:cNvPr id="20" name="TextBox 19"/>
          <p:cNvSpPr txBox="1"/>
          <p:nvPr/>
        </p:nvSpPr>
        <p:spPr>
          <a:xfrm>
            <a:off x="6949440" y="3191256"/>
            <a:ext cx="4800600" cy="1252728"/>
          </a:xfrm>
          <a:prstGeom prst="rect">
            <a:avLst/>
          </a:prstGeom>
          <a:noFill/>
        </p:spPr>
        <p:txBody>
          <a:bodyPr wrap="square">
            <a:spAutoFit/>
          </a:bodyPr>
          <a:lstStyle/>
          <a:p>
            <a:pPr algn="l"/>
            <a:r>
              <a:rPr sz="1100" b="0" i="0">
                <a:solidFill>
                  <a:srgbClr val="1A1A2E"/>
                </a:solidFill>
              </a:rPr>
              <a:t>Monitor share-to-conversion rate quarterly as the early warning signal. Proactively explore adjacent market segments (corporate gifting, family plans) and refresh monthly themes to appeal to new demographics before saturation sets in. Use the Ansoff Matrix expansion strategies to open new markets before the existing market ceiling is reached.</a:t>
            </a:r>
          </a:p>
        </p:txBody>
      </p:sp>
      <p:sp>
        <p:nvSpPr>
          <p:cNvPr id="21" name="Rectangle 20"/>
          <p:cNvSpPr/>
          <p:nvPr/>
        </p:nvSpPr>
        <p:spPr>
          <a:xfrm>
            <a:off x="274320" y="4654296"/>
            <a:ext cx="1828800" cy="16002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4855464"/>
            <a:ext cx="1737360" cy="1005840"/>
          </a:xfrm>
          <a:prstGeom prst="rect">
            <a:avLst/>
          </a:prstGeom>
          <a:noFill/>
        </p:spPr>
        <p:txBody>
          <a:bodyPr wrap="square">
            <a:spAutoFit/>
          </a:bodyPr>
          <a:lstStyle/>
          <a:p>
            <a:pPr algn="ctr"/>
            <a:r>
              <a:rPr sz="1200" b="1" i="0">
                <a:solidFill>
                  <a:srgbClr val="FFFFFF"/>
                </a:solidFill>
              </a:rPr>
              <a:t>SINGLE PRODUCT /
SINGLE MARKET</a:t>
            </a:r>
          </a:p>
        </p:txBody>
      </p:sp>
      <p:sp>
        <p:nvSpPr>
          <p:cNvPr id="23" name="Rectangle 22"/>
          <p:cNvSpPr/>
          <p:nvPr/>
        </p:nvSpPr>
        <p:spPr>
          <a:xfrm>
            <a:off x="2103120" y="4654296"/>
            <a:ext cx="4754880" cy="16002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94560" y="4690872"/>
            <a:ext cx="777240" cy="256032"/>
          </a:xfrm>
          <a:prstGeom prst="rect">
            <a:avLst/>
          </a:prstGeom>
          <a:noFill/>
        </p:spPr>
        <p:txBody>
          <a:bodyPr wrap="square">
            <a:spAutoFit/>
          </a:bodyPr>
          <a:lstStyle/>
          <a:p>
            <a:pPr algn="l"/>
            <a:r>
              <a:rPr sz="1000" b="1" i="0">
                <a:solidFill>
                  <a:srgbClr val="BF550D"/>
                </a:solidFill>
              </a:rPr>
              <a:t>PROBLEM:</a:t>
            </a:r>
          </a:p>
        </p:txBody>
      </p:sp>
      <p:sp>
        <p:nvSpPr>
          <p:cNvPr id="25" name="TextBox 24"/>
          <p:cNvSpPr txBox="1"/>
          <p:nvPr/>
        </p:nvSpPr>
        <p:spPr>
          <a:xfrm>
            <a:off x="2194560" y="4946904"/>
            <a:ext cx="4526280" cy="1252728"/>
          </a:xfrm>
          <a:prstGeom prst="rect">
            <a:avLst/>
          </a:prstGeom>
          <a:noFill/>
        </p:spPr>
        <p:txBody>
          <a:bodyPr wrap="square">
            <a:spAutoFit/>
          </a:bodyPr>
          <a:lstStyle/>
          <a:p>
            <a:pPr algn="l"/>
            <a:r>
              <a:rPr sz="1100" b="0" i="0">
                <a:solidFill>
                  <a:srgbClr val="1A1A2E"/>
                </a:solidFill>
              </a:rPr>
              <a:t>Craft Snacks currently operates one product (monthly snack box) for one market (individual consumers). If customer preferences shift away from surprise boxes, or if a lower-cost competitor replicates the model, the entire revenue stream and growth engine becomes simultaneously vulnerable, there is no fallback product or market to absorb the impact.</a:t>
            </a:r>
          </a:p>
        </p:txBody>
      </p:sp>
      <p:sp>
        <p:nvSpPr>
          <p:cNvPr id="26" name="Rectangle 25"/>
          <p:cNvSpPr/>
          <p:nvPr/>
        </p:nvSpPr>
        <p:spPr>
          <a:xfrm>
            <a:off x="6858000" y="4654296"/>
            <a:ext cx="5029200" cy="1600200"/>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949440" y="4690872"/>
            <a:ext cx="960120" cy="256032"/>
          </a:xfrm>
          <a:prstGeom prst="rect">
            <a:avLst/>
          </a:prstGeom>
          <a:noFill/>
        </p:spPr>
        <p:txBody>
          <a:bodyPr wrap="square">
            <a:spAutoFit/>
          </a:bodyPr>
          <a:lstStyle/>
          <a:p>
            <a:pPr algn="l"/>
            <a:r>
              <a:rPr sz="1000" b="1" i="0">
                <a:solidFill>
                  <a:srgbClr val="005F5F"/>
                </a:solidFill>
              </a:rPr>
              <a:t>SOLUTION:</a:t>
            </a:r>
          </a:p>
        </p:txBody>
      </p:sp>
      <p:sp>
        <p:nvSpPr>
          <p:cNvPr id="28" name="TextBox 27"/>
          <p:cNvSpPr txBox="1"/>
          <p:nvPr/>
        </p:nvSpPr>
        <p:spPr>
          <a:xfrm>
            <a:off x="6949440" y="4946904"/>
            <a:ext cx="4800600" cy="1252728"/>
          </a:xfrm>
          <a:prstGeom prst="rect">
            <a:avLst/>
          </a:prstGeom>
          <a:noFill/>
        </p:spPr>
        <p:txBody>
          <a:bodyPr wrap="square">
            <a:spAutoFit/>
          </a:bodyPr>
          <a:lstStyle/>
          <a:p>
            <a:pPr algn="l"/>
            <a:r>
              <a:rPr sz="1100" b="0" i="0">
                <a:solidFill>
                  <a:srgbClr val="1A1A2E"/>
                </a:solidFill>
              </a:rPr>
              <a:t>Develop complementary revenue streams before the core loop is threatened: a Snack Store for individual item repurchase (45% of subscribers already seek out favorites) creates a new acquisition channel. A B2B corporate gifting tier opens a new market. Diversifying reduces the 'single point of failure' risk and ensures the growth engine has multiple, independent fuel sources.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Product/Market Expansion Opportunity</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Ansoff Matrix Analysis</a:t>
            </a:r>
          </a:p>
        </p:txBody>
      </p:sp>
      <p:sp>
        <p:nvSpPr>
          <p:cNvPr id="5" name="TextBox 4"/>
          <p:cNvSpPr txBox="1"/>
          <p:nvPr/>
        </p:nvSpPr>
        <p:spPr>
          <a:xfrm>
            <a:off x="274320" y="1170432"/>
            <a:ext cx="5806440" cy="320040"/>
          </a:xfrm>
          <a:prstGeom prst="rect">
            <a:avLst/>
          </a:prstGeom>
          <a:noFill/>
        </p:spPr>
        <p:txBody>
          <a:bodyPr wrap="square">
            <a:spAutoFit/>
          </a:bodyPr>
          <a:lstStyle/>
          <a:p>
            <a:pPr algn="ctr"/>
            <a:r>
              <a:rPr sz="1100" b="1" i="0">
                <a:solidFill>
                  <a:srgbClr val="555555"/>
                </a:solidFill>
              </a:rPr>
              <a:t>← EXISTING MARKET</a:t>
            </a:r>
          </a:p>
        </p:txBody>
      </p:sp>
      <p:sp>
        <p:nvSpPr>
          <p:cNvPr id="6" name="TextBox 5"/>
          <p:cNvSpPr txBox="1"/>
          <p:nvPr/>
        </p:nvSpPr>
        <p:spPr>
          <a:xfrm>
            <a:off x="6355080" y="1170432"/>
            <a:ext cx="5532120" cy="320040"/>
          </a:xfrm>
          <a:prstGeom prst="rect">
            <a:avLst/>
          </a:prstGeom>
          <a:noFill/>
        </p:spPr>
        <p:txBody>
          <a:bodyPr wrap="square">
            <a:spAutoFit/>
          </a:bodyPr>
          <a:lstStyle/>
          <a:p>
            <a:pPr algn="ctr"/>
            <a:r>
              <a:rPr sz="1100" b="1" i="0">
                <a:solidFill>
                  <a:srgbClr val="555555"/>
                </a:solidFill>
              </a:rPr>
              <a:t>NEW MARKET →</a:t>
            </a:r>
          </a:p>
        </p:txBody>
      </p:sp>
      <p:sp>
        <p:nvSpPr>
          <p:cNvPr id="7" name="TextBox 6"/>
          <p:cNvSpPr txBox="1"/>
          <p:nvPr/>
        </p:nvSpPr>
        <p:spPr>
          <a:xfrm>
            <a:off x="18288" y="2468880"/>
            <a:ext cx="548640" cy="2194560"/>
          </a:xfrm>
          <a:prstGeom prst="rect">
            <a:avLst/>
          </a:prstGeom>
          <a:noFill/>
        </p:spPr>
        <p:txBody>
          <a:bodyPr wrap="square">
            <a:spAutoFit/>
          </a:bodyPr>
          <a:lstStyle/>
          <a:p>
            <a:pPr algn="ctr"/>
            <a:r>
              <a:rPr sz="900" b="1" i="0">
                <a:solidFill>
                  <a:srgbClr val="555555"/>
                </a:solidFill>
              </a:rPr>
              <a:t>EXISTING
PRODUCT</a:t>
            </a:r>
          </a:p>
        </p:txBody>
      </p:sp>
      <p:sp>
        <p:nvSpPr>
          <p:cNvPr id="8" name="TextBox 7"/>
          <p:cNvSpPr txBox="1"/>
          <p:nvPr/>
        </p:nvSpPr>
        <p:spPr>
          <a:xfrm>
            <a:off x="18288" y="4663440"/>
            <a:ext cx="548640" cy="1828800"/>
          </a:xfrm>
          <a:prstGeom prst="rect">
            <a:avLst/>
          </a:prstGeom>
          <a:noFill/>
        </p:spPr>
        <p:txBody>
          <a:bodyPr wrap="square">
            <a:spAutoFit/>
          </a:bodyPr>
          <a:lstStyle/>
          <a:p>
            <a:pPr algn="ctr"/>
            <a:r>
              <a:rPr sz="900" b="1" i="0">
                <a:solidFill>
                  <a:srgbClr val="555555"/>
                </a:solidFill>
              </a:rPr>
              <a:t>NEW
PRODUCT</a:t>
            </a:r>
          </a:p>
        </p:txBody>
      </p:sp>
      <p:sp>
        <p:nvSpPr>
          <p:cNvPr id="9" name="Rectangle 8"/>
          <p:cNvSpPr/>
          <p:nvPr/>
        </p:nvSpPr>
        <p:spPr>
          <a:xfrm>
            <a:off x="594360" y="1463040"/>
            <a:ext cx="5486400" cy="347472"/>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481328"/>
            <a:ext cx="5394960" cy="301752"/>
          </a:xfrm>
          <a:prstGeom prst="rect">
            <a:avLst/>
          </a:prstGeom>
          <a:noFill/>
        </p:spPr>
        <p:txBody>
          <a:bodyPr wrap="square">
            <a:spAutoFit/>
          </a:bodyPr>
          <a:lstStyle/>
          <a:p>
            <a:pPr algn="ctr"/>
            <a:r>
              <a:rPr sz="1200" b="1" i="0">
                <a:solidFill>
                  <a:srgbClr val="FFFFFF"/>
                </a:solidFill>
              </a:rPr>
              <a:t>MARKET PENETRATION</a:t>
            </a:r>
          </a:p>
        </p:txBody>
      </p:sp>
      <p:sp>
        <p:nvSpPr>
          <p:cNvPr id="11" name="Rectangle 10"/>
          <p:cNvSpPr/>
          <p:nvPr/>
        </p:nvSpPr>
        <p:spPr>
          <a:xfrm>
            <a:off x="594360" y="1810512"/>
            <a:ext cx="5486400" cy="20756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04088" y="1847088"/>
            <a:ext cx="5321808" cy="1965960"/>
          </a:xfrm>
          <a:prstGeom prst="rect">
            <a:avLst/>
          </a:prstGeom>
          <a:noFill/>
        </p:spPr>
        <p:txBody>
          <a:bodyPr wrap="square">
            <a:spAutoFit/>
          </a:bodyPr>
          <a:lstStyle/>
          <a:p>
            <a:pPr algn="l"/>
            <a:r>
              <a:rPr sz="1100">
                <a:solidFill>
                  <a:srgbClr val="1A1A2E"/>
                </a:solidFill>
              </a:rPr>
              <a:t>Existing Product + Existing Market</a:t>
            </a:r>
          </a:p>
          <a:p>
            <a:pPr algn="l"/>
            <a:endParaRPr sz="1100">
              <a:solidFill>
                <a:srgbClr val="1A1A2E"/>
              </a:solidFill>
            </a:endParaRPr>
          </a:p>
          <a:p>
            <a:pPr algn="l"/>
            <a:r>
              <a:rPr sz="1100">
                <a:solidFill>
                  <a:srgbClr val="1A1A2E"/>
                </a:solidFill>
              </a:rPr>
              <a:t>• Enhance 'Share My Box' with loyalty rewards</a:t>
            </a:r>
          </a:p>
          <a:p>
            <a:pPr algn="l"/>
            <a:r>
              <a:rPr sz="1100">
                <a:solidFill>
                  <a:srgbClr val="1A1A2E"/>
                </a:solidFill>
              </a:rPr>
              <a:t>  to increase referral share rate beyond 36%</a:t>
            </a:r>
          </a:p>
          <a:p>
            <a:pPr algn="l"/>
            <a:r>
              <a:rPr sz="1100">
                <a:solidFill>
                  <a:srgbClr val="1A1A2E"/>
                </a:solidFill>
              </a:rPr>
              <a:t>• Launch a 'Snack Ambassador' program :</a:t>
            </a:r>
          </a:p>
          <a:p>
            <a:pPr algn="l"/>
            <a:r>
              <a:rPr sz="1100">
                <a:solidFill>
                  <a:srgbClr val="1A1A2E"/>
                </a:solidFill>
              </a:rPr>
              <a:t>  top sharers earn free boxes / exclusive themes</a:t>
            </a:r>
          </a:p>
          <a:p>
            <a:pPr algn="l"/>
            <a:r>
              <a:rPr sz="1100">
                <a:solidFill>
                  <a:srgbClr val="1A1A2E"/>
                </a:solidFill>
              </a:rPr>
              <a:t>• Add first-month discount for new sign-ups</a:t>
            </a:r>
          </a:p>
          <a:p>
            <a:pPr algn="l"/>
            <a:r>
              <a:rPr sz="1100">
                <a:solidFill>
                  <a:srgbClr val="1A1A2E"/>
                </a:solidFill>
              </a:rPr>
              <a:t>  via referral links to improve conversion rate</a:t>
            </a:r>
          </a:p>
          <a:p>
            <a:pPr algn="l"/>
            <a:endParaRPr sz="1100">
              <a:solidFill>
                <a:srgbClr val="1A1A2E"/>
              </a:solidFill>
            </a:endParaRPr>
          </a:p>
          <a:p>
            <a:pPr algn="l"/>
            <a:r>
              <a:rPr sz="1100">
                <a:solidFill>
                  <a:srgbClr val="1A1A2E"/>
                </a:solidFill>
              </a:rPr>
              <a:t>Ansoff Risk: Lowest: building on proven</a:t>
            </a:r>
          </a:p>
          <a:p>
            <a:pPr algn="l"/>
            <a:r>
              <a:rPr sz="1100">
                <a:solidFill>
                  <a:srgbClr val="1A1A2E"/>
                </a:solidFill>
              </a:rPr>
              <a:t>product and validated market</a:t>
            </a:r>
          </a:p>
        </p:txBody>
      </p:sp>
      <p:sp>
        <p:nvSpPr>
          <p:cNvPr id="13" name="Rectangle 12"/>
          <p:cNvSpPr/>
          <p:nvPr/>
        </p:nvSpPr>
        <p:spPr>
          <a:xfrm>
            <a:off x="6355080" y="1463040"/>
            <a:ext cx="5532120" cy="347472"/>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481328"/>
            <a:ext cx="5440680" cy="301752"/>
          </a:xfrm>
          <a:prstGeom prst="rect">
            <a:avLst/>
          </a:prstGeom>
          <a:noFill/>
        </p:spPr>
        <p:txBody>
          <a:bodyPr wrap="square">
            <a:spAutoFit/>
          </a:bodyPr>
          <a:lstStyle/>
          <a:p>
            <a:pPr algn="ctr"/>
            <a:r>
              <a:rPr sz="1200" b="1" i="0">
                <a:solidFill>
                  <a:srgbClr val="FFFFFF"/>
                </a:solidFill>
              </a:rPr>
              <a:t>MARKET EXPANSION</a:t>
            </a:r>
          </a:p>
        </p:txBody>
      </p:sp>
      <p:sp>
        <p:nvSpPr>
          <p:cNvPr id="15" name="Rectangle 14"/>
          <p:cNvSpPr/>
          <p:nvPr/>
        </p:nvSpPr>
        <p:spPr>
          <a:xfrm>
            <a:off x="6355080" y="1810512"/>
            <a:ext cx="5532120" cy="20756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64808" y="1847088"/>
            <a:ext cx="5367528" cy="1965960"/>
          </a:xfrm>
          <a:prstGeom prst="rect">
            <a:avLst/>
          </a:prstGeom>
          <a:noFill/>
        </p:spPr>
        <p:txBody>
          <a:bodyPr wrap="square">
            <a:spAutoFit/>
          </a:bodyPr>
          <a:lstStyle/>
          <a:p>
            <a:pPr algn="l"/>
            <a:r>
              <a:rPr sz="1100">
                <a:solidFill>
                  <a:srgbClr val="1A1A2E"/>
                </a:solidFill>
              </a:rPr>
              <a:t>Existing Product + New Market</a:t>
            </a:r>
          </a:p>
          <a:p>
            <a:pPr algn="l"/>
            <a:endParaRPr sz="1100">
              <a:solidFill>
                <a:srgbClr val="1A1A2E"/>
              </a:solidFill>
            </a:endParaRPr>
          </a:p>
          <a:p>
            <a:pPr algn="l"/>
            <a:r>
              <a:rPr sz="1100">
                <a:solidFill>
                  <a:srgbClr val="1A1A2E"/>
                </a:solidFill>
              </a:rPr>
              <a:t>• Reframe monthly box as a CORPORATE GIFT</a:t>
            </a:r>
          </a:p>
          <a:p>
            <a:pPr algn="l"/>
            <a:r>
              <a:rPr sz="1100">
                <a:solidFill>
                  <a:srgbClr val="1A1A2E"/>
                </a:solidFill>
              </a:rPr>
              <a:t>  solution: bulk subscription plans for</a:t>
            </a:r>
          </a:p>
          <a:p>
            <a:pPr algn="l"/>
            <a:r>
              <a:rPr sz="1100">
                <a:solidFill>
                  <a:srgbClr val="1A1A2E"/>
                </a:solidFill>
              </a:rPr>
              <a:t>  companies to gift employees or clients</a:t>
            </a:r>
          </a:p>
          <a:p>
            <a:pPr algn="l"/>
            <a:r>
              <a:rPr sz="1100">
                <a:solidFill>
                  <a:srgbClr val="1A1A2E"/>
                </a:solidFill>
              </a:rPr>
              <a:t>• Brand the offering as 'Team Snacks' :</a:t>
            </a:r>
          </a:p>
          <a:p>
            <a:pPr algn="l"/>
            <a:r>
              <a:rPr sz="1100">
                <a:solidFill>
                  <a:srgbClr val="1A1A2E"/>
                </a:solidFill>
              </a:rPr>
              <a:t>  recurring surprise box for office wellness</a:t>
            </a:r>
          </a:p>
          <a:p>
            <a:pPr algn="l"/>
            <a:r>
              <a:rPr sz="1100">
                <a:solidFill>
                  <a:srgbClr val="1A1A2E"/>
                </a:solidFill>
              </a:rPr>
              <a:t>  or client appreciation programs</a:t>
            </a:r>
          </a:p>
          <a:p>
            <a:pPr algn="l"/>
            <a:endParaRPr sz="1100">
              <a:solidFill>
                <a:srgbClr val="1A1A2E"/>
              </a:solidFill>
            </a:endParaRPr>
          </a:p>
          <a:p>
            <a:pPr algn="l"/>
            <a:r>
              <a:rPr sz="1100">
                <a:solidFill>
                  <a:srgbClr val="1A1A2E"/>
                </a:solidFill>
              </a:rPr>
              <a:t>Ansoff Risk: Medium: same product,</a:t>
            </a:r>
          </a:p>
          <a:p>
            <a:pPr algn="l"/>
            <a:r>
              <a:rPr sz="1100">
                <a:solidFill>
                  <a:srgbClr val="1A1A2E"/>
                </a:solidFill>
              </a:rPr>
              <a:t>new audience and acquisition channel</a:t>
            </a:r>
          </a:p>
        </p:txBody>
      </p:sp>
      <p:sp>
        <p:nvSpPr>
          <p:cNvPr id="17" name="Rectangle 16"/>
          <p:cNvSpPr/>
          <p:nvPr/>
        </p:nvSpPr>
        <p:spPr>
          <a:xfrm>
            <a:off x="594360" y="4069080"/>
            <a:ext cx="5486400" cy="347472"/>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087368"/>
            <a:ext cx="5394960" cy="301752"/>
          </a:xfrm>
          <a:prstGeom prst="rect">
            <a:avLst/>
          </a:prstGeom>
          <a:noFill/>
        </p:spPr>
        <p:txBody>
          <a:bodyPr wrap="square">
            <a:spAutoFit/>
          </a:bodyPr>
          <a:lstStyle/>
          <a:p>
            <a:pPr algn="ctr"/>
            <a:r>
              <a:rPr sz="1200" b="1" i="0">
                <a:solidFill>
                  <a:srgbClr val="FFFFFF"/>
                </a:solidFill>
              </a:rPr>
              <a:t>PRODUCT DEVELOPMENT</a:t>
            </a:r>
          </a:p>
        </p:txBody>
      </p:sp>
      <p:sp>
        <p:nvSpPr>
          <p:cNvPr id="19" name="Rectangle 18"/>
          <p:cNvSpPr/>
          <p:nvPr/>
        </p:nvSpPr>
        <p:spPr>
          <a:xfrm>
            <a:off x="594360" y="4416552"/>
            <a:ext cx="5486400" cy="20756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4088" y="4453128"/>
            <a:ext cx="5321808" cy="1965960"/>
          </a:xfrm>
          <a:prstGeom prst="rect">
            <a:avLst/>
          </a:prstGeom>
          <a:noFill/>
        </p:spPr>
        <p:txBody>
          <a:bodyPr wrap="square">
            <a:spAutoFit/>
          </a:bodyPr>
          <a:lstStyle/>
          <a:p>
            <a:pPr algn="l"/>
            <a:r>
              <a:rPr sz="1100">
                <a:solidFill>
                  <a:srgbClr val="1A1A2E"/>
                </a:solidFill>
              </a:rPr>
              <a:t>New Product + Existing Market</a:t>
            </a:r>
          </a:p>
          <a:p>
            <a:pPr algn="l"/>
            <a:endParaRPr sz="1100">
              <a:solidFill>
                <a:srgbClr val="1A1A2E"/>
              </a:solidFill>
            </a:endParaRPr>
          </a:p>
          <a:p>
            <a:pPr algn="l"/>
            <a:r>
              <a:rPr sz="1100">
                <a:solidFill>
                  <a:srgbClr val="1A1A2E"/>
                </a:solidFill>
              </a:rPr>
              <a:t>• Build a 'Snack Store': individual item</a:t>
            </a:r>
          </a:p>
          <a:p>
            <a:pPr algn="l"/>
            <a:r>
              <a:rPr sz="1100">
                <a:solidFill>
                  <a:srgbClr val="1A1A2E"/>
                </a:solidFill>
              </a:rPr>
              <a:t>  e-commerce for subscribers to repurchase</a:t>
            </a:r>
          </a:p>
          <a:p>
            <a:pPr algn="l"/>
            <a:r>
              <a:rPr sz="1100">
                <a:solidFill>
                  <a:srgbClr val="1A1A2E"/>
                </a:solidFill>
              </a:rPr>
              <a:t>  favorites (45% already seek them out offline)</a:t>
            </a:r>
          </a:p>
          <a:p>
            <a:pPr algn="l"/>
            <a:r>
              <a:rPr sz="1100">
                <a:solidFill>
                  <a:srgbClr val="1A1A2E"/>
                </a:solidFill>
              </a:rPr>
              <a:t>• Creates a lower-barrier entry point for</a:t>
            </a:r>
          </a:p>
          <a:p>
            <a:pPr algn="l"/>
            <a:r>
              <a:rPr sz="1100">
                <a:solidFill>
                  <a:srgbClr val="1A1A2E"/>
                </a:solidFill>
              </a:rPr>
              <a:t>  prospective customers hesitant about $30/mo</a:t>
            </a:r>
          </a:p>
          <a:p>
            <a:pPr algn="l"/>
            <a:r>
              <a:rPr sz="1100">
                <a:solidFill>
                  <a:srgbClr val="1A1A2E"/>
                </a:solidFill>
              </a:rPr>
              <a:t>• Upsell path: Snack Store user → subscriber</a:t>
            </a:r>
          </a:p>
          <a:p>
            <a:pPr algn="l"/>
            <a:endParaRPr sz="1100">
              <a:solidFill>
                <a:srgbClr val="1A1A2E"/>
              </a:solidFill>
            </a:endParaRPr>
          </a:p>
          <a:p>
            <a:pPr algn="l"/>
            <a:r>
              <a:rPr sz="1100">
                <a:solidFill>
                  <a:srgbClr val="1A1A2E"/>
                </a:solidFill>
              </a:rPr>
              <a:t>Ansoff Risk: Medium: new product but</a:t>
            </a:r>
          </a:p>
          <a:p>
            <a:pPr algn="l"/>
            <a:r>
              <a:rPr sz="1100">
                <a:solidFill>
                  <a:srgbClr val="1A1A2E"/>
                </a:solidFill>
              </a:rPr>
              <a:t>familiar audience with validated demand</a:t>
            </a:r>
          </a:p>
        </p:txBody>
      </p:sp>
      <p:sp>
        <p:nvSpPr>
          <p:cNvPr id="21" name="Rectangle 20"/>
          <p:cNvSpPr/>
          <p:nvPr/>
        </p:nvSpPr>
        <p:spPr>
          <a:xfrm>
            <a:off x="6355080" y="4069080"/>
            <a:ext cx="5532120" cy="347472"/>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087368"/>
            <a:ext cx="5440680" cy="301752"/>
          </a:xfrm>
          <a:prstGeom prst="rect">
            <a:avLst/>
          </a:prstGeom>
          <a:noFill/>
        </p:spPr>
        <p:txBody>
          <a:bodyPr wrap="square">
            <a:spAutoFit/>
          </a:bodyPr>
          <a:lstStyle/>
          <a:p>
            <a:pPr algn="ctr"/>
            <a:r>
              <a:rPr sz="1200" b="1" i="0">
                <a:solidFill>
                  <a:srgbClr val="FFFFFF"/>
                </a:solidFill>
              </a:rPr>
              <a:t>DIVERSIFICATION</a:t>
            </a:r>
          </a:p>
        </p:txBody>
      </p:sp>
      <p:sp>
        <p:nvSpPr>
          <p:cNvPr id="23" name="Rectangle 22"/>
          <p:cNvSpPr/>
          <p:nvPr/>
        </p:nvSpPr>
        <p:spPr>
          <a:xfrm>
            <a:off x="6355080" y="4416552"/>
            <a:ext cx="5532120" cy="207568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64808" y="4453128"/>
            <a:ext cx="5367528" cy="1965960"/>
          </a:xfrm>
          <a:prstGeom prst="rect">
            <a:avLst/>
          </a:prstGeom>
          <a:noFill/>
        </p:spPr>
        <p:txBody>
          <a:bodyPr wrap="square">
            <a:spAutoFit/>
          </a:bodyPr>
          <a:lstStyle/>
          <a:p>
            <a:pPr algn="l"/>
            <a:r>
              <a:rPr sz="1100">
                <a:solidFill>
                  <a:srgbClr val="1A1A2E"/>
                </a:solidFill>
              </a:rPr>
              <a:t>New Product + New Market</a:t>
            </a:r>
          </a:p>
          <a:p>
            <a:pPr algn="l"/>
            <a:endParaRPr sz="1100">
              <a:solidFill>
                <a:srgbClr val="1A1A2E"/>
              </a:solidFill>
            </a:endParaRPr>
          </a:p>
          <a:p>
            <a:pPr algn="l"/>
            <a:r>
              <a:rPr sz="1100">
                <a:solidFill>
                  <a:srgbClr val="1A1A2E"/>
                </a:solidFill>
              </a:rPr>
              <a:t>• Launch 'Craft Snacks Experience Box' :</a:t>
            </a:r>
          </a:p>
          <a:p>
            <a:pPr algn="l"/>
            <a:r>
              <a:rPr sz="1100">
                <a:solidFill>
                  <a:srgbClr val="1A1A2E"/>
                </a:solidFill>
              </a:rPr>
              <a:t>  a quarterly premium lifestyle box beyond</a:t>
            </a:r>
          </a:p>
          <a:p>
            <a:pPr algn="l"/>
            <a:r>
              <a:rPr sz="1100">
                <a:solidFill>
                  <a:srgbClr val="1A1A2E"/>
                </a:solidFill>
              </a:rPr>
              <a:t>  snacks: artisan beverages, condiments,</a:t>
            </a:r>
          </a:p>
          <a:p>
            <a:pPr algn="l"/>
            <a:r>
              <a:rPr sz="1100">
                <a:solidFill>
                  <a:srgbClr val="1A1A2E"/>
                </a:solidFill>
              </a:rPr>
              <a:t>  small-batch kitchen accessories</a:t>
            </a:r>
          </a:p>
          <a:p>
            <a:pPr algn="l"/>
            <a:r>
              <a:rPr sz="1100">
                <a:solidFill>
                  <a:srgbClr val="1A1A2E"/>
                </a:solidFill>
              </a:rPr>
              <a:t>• Target premium lifestyle subscription</a:t>
            </a:r>
          </a:p>
          <a:p>
            <a:pPr algn="l"/>
            <a:r>
              <a:rPr sz="1100">
                <a:solidFill>
                  <a:srgbClr val="1A1A2E"/>
                </a:solidFill>
              </a:rPr>
              <a:t>  market distinct from snack enthusiasts</a:t>
            </a:r>
          </a:p>
          <a:p>
            <a:pPr algn="l"/>
            <a:endParaRPr sz="1100">
              <a:solidFill>
                <a:srgbClr val="1A1A2E"/>
              </a:solidFill>
            </a:endParaRPr>
          </a:p>
          <a:p>
            <a:pPr algn="l"/>
            <a:r>
              <a:rPr sz="1100">
                <a:solidFill>
                  <a:srgbClr val="1A1A2E"/>
                </a:solidFill>
              </a:rPr>
              <a:t>Ansoff Risk: Highest: new product AND</a:t>
            </a:r>
          </a:p>
          <a:p>
            <a:pPr algn="l"/>
            <a:r>
              <a:rPr sz="1100">
                <a:solidFill>
                  <a:srgbClr val="1A1A2E"/>
                </a:solidFill>
              </a:rPr>
              <a:t>new market; pursue after loop is proven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Loop Optimization</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Original Loop + Expanded Loop (Product Development)</a:t>
            </a:r>
          </a:p>
        </p:txBody>
      </p:sp>
      <p:sp>
        <p:nvSpPr>
          <p:cNvPr id="5" name="Rectangle 4"/>
          <p:cNvSpPr/>
          <p:nvPr/>
        </p:nvSpPr>
        <p:spPr>
          <a:xfrm>
            <a:off x="274320" y="1143000"/>
            <a:ext cx="11640312" cy="347472"/>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11338560" cy="292608"/>
          </a:xfrm>
          <a:prstGeom prst="rect">
            <a:avLst/>
          </a:prstGeom>
          <a:noFill/>
        </p:spPr>
        <p:txBody>
          <a:bodyPr wrap="square">
            <a:spAutoFit/>
          </a:bodyPr>
          <a:lstStyle/>
          <a:p>
            <a:pPr algn="l"/>
            <a:r>
              <a:rPr sz="1200" b="1" i="0">
                <a:solidFill>
                  <a:srgbClr val="FFFFFF"/>
                </a:solidFill>
              </a:rPr>
              <a:t>ORIGINAL LOOP  (Market Penetration: Existing Product × Existing Market)</a:t>
            </a:r>
          </a:p>
        </p:txBody>
      </p:sp>
      <p:sp>
        <p:nvSpPr>
          <p:cNvPr id="7" name="Rectangle 6"/>
          <p:cNvSpPr/>
          <p:nvPr/>
        </p:nvSpPr>
        <p:spPr>
          <a:xfrm>
            <a:off x="274320" y="1490472"/>
            <a:ext cx="2148840" cy="4114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1508760"/>
            <a:ext cx="2057400" cy="347472"/>
          </a:xfrm>
          <a:prstGeom prst="rect">
            <a:avLst/>
          </a:prstGeom>
          <a:noFill/>
        </p:spPr>
        <p:txBody>
          <a:bodyPr wrap="square">
            <a:spAutoFit/>
          </a:bodyPr>
          <a:lstStyle/>
          <a:p>
            <a:pPr algn="ctr"/>
            <a:r>
              <a:rPr sz="1100" b="1" i="0">
                <a:solidFill>
                  <a:srgbClr val="FFFFFF"/>
                </a:solidFill>
              </a:rPr>
              <a:t>1. Receive Box</a:t>
            </a:r>
          </a:p>
        </p:txBody>
      </p:sp>
      <p:sp>
        <p:nvSpPr>
          <p:cNvPr id="9" name="TextBox 8"/>
          <p:cNvSpPr txBox="1"/>
          <p:nvPr/>
        </p:nvSpPr>
        <p:spPr>
          <a:xfrm>
            <a:off x="2441448" y="1581912"/>
            <a:ext cx="91440" cy="228600"/>
          </a:xfrm>
          <a:prstGeom prst="rect">
            <a:avLst/>
          </a:prstGeom>
          <a:noFill/>
        </p:spPr>
        <p:txBody>
          <a:bodyPr wrap="square">
            <a:spAutoFit/>
          </a:bodyPr>
          <a:lstStyle/>
          <a:p>
            <a:pPr algn="l"/>
            <a:r>
              <a:rPr sz="1400" b="1" i="0">
                <a:solidFill>
                  <a:srgbClr val="E86B1A"/>
                </a:solidFill>
              </a:rPr>
              <a:t>→</a:t>
            </a:r>
          </a:p>
        </p:txBody>
      </p:sp>
      <p:sp>
        <p:nvSpPr>
          <p:cNvPr id="10" name="Rectangle 9"/>
          <p:cNvSpPr/>
          <p:nvPr/>
        </p:nvSpPr>
        <p:spPr>
          <a:xfrm>
            <a:off x="2514600" y="1490472"/>
            <a:ext cx="2148840" cy="411480"/>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1508760"/>
            <a:ext cx="2057400" cy="347472"/>
          </a:xfrm>
          <a:prstGeom prst="rect">
            <a:avLst/>
          </a:prstGeom>
          <a:noFill/>
        </p:spPr>
        <p:txBody>
          <a:bodyPr wrap="square">
            <a:spAutoFit/>
          </a:bodyPr>
          <a:lstStyle/>
          <a:p>
            <a:pPr algn="ctr"/>
            <a:r>
              <a:rPr sz="1100" b="1" i="0">
                <a:solidFill>
                  <a:srgbClr val="FFFFFF"/>
                </a:solidFill>
              </a:rPr>
              <a:t>2. Share My Box</a:t>
            </a:r>
          </a:p>
        </p:txBody>
      </p:sp>
      <p:sp>
        <p:nvSpPr>
          <p:cNvPr id="12" name="TextBox 11"/>
          <p:cNvSpPr txBox="1"/>
          <p:nvPr/>
        </p:nvSpPr>
        <p:spPr>
          <a:xfrm>
            <a:off x="4681727" y="1581912"/>
            <a:ext cx="91440" cy="228600"/>
          </a:xfrm>
          <a:prstGeom prst="rect">
            <a:avLst/>
          </a:prstGeom>
          <a:noFill/>
        </p:spPr>
        <p:txBody>
          <a:bodyPr wrap="square">
            <a:spAutoFit/>
          </a:bodyPr>
          <a:lstStyle/>
          <a:p>
            <a:pPr algn="l"/>
            <a:r>
              <a:rPr sz="1400" b="1" i="0">
                <a:solidFill>
                  <a:srgbClr val="E86B1A"/>
                </a:solidFill>
              </a:rPr>
              <a:t>→</a:t>
            </a:r>
          </a:p>
        </p:txBody>
      </p:sp>
      <p:sp>
        <p:nvSpPr>
          <p:cNvPr id="13" name="Rectangle 12"/>
          <p:cNvSpPr/>
          <p:nvPr/>
        </p:nvSpPr>
        <p:spPr>
          <a:xfrm>
            <a:off x="4754880" y="1490472"/>
            <a:ext cx="2148840" cy="41148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0600" y="1508760"/>
            <a:ext cx="2057400" cy="347472"/>
          </a:xfrm>
          <a:prstGeom prst="rect">
            <a:avLst/>
          </a:prstGeom>
          <a:noFill/>
        </p:spPr>
        <p:txBody>
          <a:bodyPr wrap="square">
            <a:spAutoFit/>
          </a:bodyPr>
          <a:lstStyle/>
          <a:p>
            <a:pPr algn="ctr"/>
            <a:r>
              <a:rPr sz="1100" b="1" i="0">
                <a:solidFill>
                  <a:srgbClr val="FFFFFF"/>
                </a:solidFill>
              </a:rPr>
              <a:t>3. Friend Discovers</a:t>
            </a:r>
          </a:p>
        </p:txBody>
      </p:sp>
      <p:sp>
        <p:nvSpPr>
          <p:cNvPr id="15" name="TextBox 14"/>
          <p:cNvSpPr txBox="1"/>
          <p:nvPr/>
        </p:nvSpPr>
        <p:spPr>
          <a:xfrm>
            <a:off x="6922008" y="1581912"/>
            <a:ext cx="91440" cy="228600"/>
          </a:xfrm>
          <a:prstGeom prst="rect">
            <a:avLst/>
          </a:prstGeom>
          <a:noFill/>
        </p:spPr>
        <p:txBody>
          <a:bodyPr wrap="square">
            <a:spAutoFit/>
          </a:bodyPr>
          <a:lstStyle/>
          <a:p>
            <a:pPr algn="l"/>
            <a:r>
              <a:rPr sz="1400" b="1" i="0">
                <a:solidFill>
                  <a:srgbClr val="E86B1A"/>
                </a:solidFill>
              </a:rPr>
              <a:t>→</a:t>
            </a:r>
          </a:p>
        </p:txBody>
      </p:sp>
      <p:sp>
        <p:nvSpPr>
          <p:cNvPr id="16" name="Rectangle 15"/>
          <p:cNvSpPr/>
          <p:nvPr/>
        </p:nvSpPr>
        <p:spPr>
          <a:xfrm>
            <a:off x="6995160" y="1490472"/>
            <a:ext cx="2148840" cy="411480"/>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040880" y="1508760"/>
            <a:ext cx="2057400" cy="347472"/>
          </a:xfrm>
          <a:prstGeom prst="rect">
            <a:avLst/>
          </a:prstGeom>
          <a:noFill/>
        </p:spPr>
        <p:txBody>
          <a:bodyPr wrap="square">
            <a:spAutoFit/>
          </a:bodyPr>
          <a:lstStyle/>
          <a:p>
            <a:pPr algn="ctr"/>
            <a:r>
              <a:rPr sz="1100" b="1" i="0">
                <a:solidFill>
                  <a:srgbClr val="FFFFFF"/>
                </a:solidFill>
              </a:rPr>
              <a:t>4. Friend Converts</a:t>
            </a:r>
          </a:p>
        </p:txBody>
      </p:sp>
      <p:sp>
        <p:nvSpPr>
          <p:cNvPr id="18" name="TextBox 17"/>
          <p:cNvSpPr txBox="1"/>
          <p:nvPr/>
        </p:nvSpPr>
        <p:spPr>
          <a:xfrm>
            <a:off x="9162288" y="1581912"/>
            <a:ext cx="91440" cy="228600"/>
          </a:xfrm>
          <a:prstGeom prst="rect">
            <a:avLst/>
          </a:prstGeom>
          <a:noFill/>
        </p:spPr>
        <p:txBody>
          <a:bodyPr wrap="square">
            <a:spAutoFit/>
          </a:bodyPr>
          <a:lstStyle/>
          <a:p>
            <a:pPr algn="l"/>
            <a:r>
              <a:rPr sz="1400" b="1" i="0">
                <a:solidFill>
                  <a:srgbClr val="E86B1A"/>
                </a:solidFill>
              </a:rPr>
              <a:t>→</a:t>
            </a:r>
          </a:p>
        </p:txBody>
      </p:sp>
      <p:sp>
        <p:nvSpPr>
          <p:cNvPr id="19" name="Rectangle 18"/>
          <p:cNvSpPr/>
          <p:nvPr/>
        </p:nvSpPr>
        <p:spPr>
          <a:xfrm>
            <a:off x="9235440" y="1490472"/>
            <a:ext cx="2148840" cy="4114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281160" y="1508760"/>
            <a:ext cx="2057400" cy="347472"/>
          </a:xfrm>
          <a:prstGeom prst="rect">
            <a:avLst/>
          </a:prstGeom>
          <a:noFill/>
        </p:spPr>
        <p:txBody>
          <a:bodyPr wrap="square">
            <a:spAutoFit/>
          </a:bodyPr>
          <a:lstStyle/>
          <a:p>
            <a:pPr algn="ctr"/>
            <a:r>
              <a:rPr sz="1100" b="1" i="0">
                <a:solidFill>
                  <a:srgbClr val="FFFFFF"/>
                </a:solidFill>
              </a:rPr>
              <a:t>5. Loop Repeats</a:t>
            </a:r>
          </a:p>
        </p:txBody>
      </p:sp>
      <p:sp>
        <p:nvSpPr>
          <p:cNvPr id="21" name="Rectangle 20"/>
          <p:cNvSpPr/>
          <p:nvPr/>
        </p:nvSpPr>
        <p:spPr>
          <a:xfrm>
            <a:off x="274320" y="2103120"/>
            <a:ext cx="11640312" cy="347472"/>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57200" y="2121408"/>
            <a:ext cx="11338560" cy="292608"/>
          </a:xfrm>
          <a:prstGeom prst="rect">
            <a:avLst/>
          </a:prstGeom>
          <a:noFill/>
        </p:spPr>
        <p:txBody>
          <a:bodyPr wrap="square">
            <a:spAutoFit/>
          </a:bodyPr>
          <a:lstStyle/>
          <a:p>
            <a:pPr algn="l"/>
            <a:r>
              <a:rPr sz="1200" b="1" i="0">
                <a:solidFill>
                  <a:srgbClr val="FFFFFF"/>
                </a:solidFill>
              </a:rPr>
              <a:t>EXPANDED LOOP  (Product Development: Snack Store × Existing Market)</a:t>
            </a:r>
          </a:p>
        </p:txBody>
      </p:sp>
      <p:sp>
        <p:nvSpPr>
          <p:cNvPr id="23" name="Rectangle 22"/>
          <p:cNvSpPr/>
          <p:nvPr/>
        </p:nvSpPr>
        <p:spPr>
          <a:xfrm>
            <a:off x="274320" y="2450592"/>
            <a:ext cx="2148840" cy="64008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20040" y="2468880"/>
            <a:ext cx="2057400" cy="594360"/>
          </a:xfrm>
          <a:prstGeom prst="rect">
            <a:avLst/>
          </a:prstGeom>
          <a:noFill/>
        </p:spPr>
        <p:txBody>
          <a:bodyPr wrap="square">
            <a:spAutoFit/>
          </a:bodyPr>
          <a:lstStyle/>
          <a:p>
            <a:pPr algn="ctr"/>
            <a:r>
              <a:rPr sz="1000" b="1" i="0">
                <a:solidFill>
                  <a:srgbClr val="FFFFFF"/>
                </a:solidFill>
              </a:rPr>
              <a:t>1. Subscriber
Finds Favorite Snack
in Monthly Box</a:t>
            </a:r>
          </a:p>
        </p:txBody>
      </p:sp>
      <p:sp>
        <p:nvSpPr>
          <p:cNvPr id="25" name="Rectangle 24"/>
          <p:cNvSpPr/>
          <p:nvPr/>
        </p:nvSpPr>
        <p:spPr>
          <a:xfrm>
            <a:off x="274320" y="3090672"/>
            <a:ext cx="21488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0040" y="3127248"/>
            <a:ext cx="2057400" cy="914400"/>
          </a:xfrm>
          <a:prstGeom prst="rect">
            <a:avLst/>
          </a:prstGeom>
          <a:noFill/>
        </p:spPr>
        <p:txBody>
          <a:bodyPr wrap="square">
            <a:spAutoFit/>
          </a:bodyPr>
          <a:lstStyle/>
          <a:p>
            <a:pPr algn="l"/>
            <a:r>
              <a:rPr sz="1000" b="0" i="0">
                <a:solidFill>
                  <a:srgbClr val="1A1A2E"/>
                </a:solidFill>
              </a:rPr>
              <a:t>45% of subscribers
identify a favorite &amp;
actively seek it out</a:t>
            </a:r>
          </a:p>
        </p:txBody>
      </p:sp>
      <p:sp>
        <p:nvSpPr>
          <p:cNvPr id="27" name="TextBox 26"/>
          <p:cNvSpPr txBox="1"/>
          <p:nvPr/>
        </p:nvSpPr>
        <p:spPr>
          <a:xfrm>
            <a:off x="2441448" y="2651760"/>
            <a:ext cx="91440" cy="256032"/>
          </a:xfrm>
          <a:prstGeom prst="rect">
            <a:avLst/>
          </a:prstGeom>
          <a:noFill/>
        </p:spPr>
        <p:txBody>
          <a:bodyPr wrap="square">
            <a:spAutoFit/>
          </a:bodyPr>
          <a:lstStyle/>
          <a:p>
            <a:pPr algn="l"/>
            <a:r>
              <a:rPr sz="1400" b="1" i="0">
                <a:solidFill>
                  <a:srgbClr val="E86B1A"/>
                </a:solidFill>
              </a:rPr>
              <a:t>→</a:t>
            </a:r>
          </a:p>
        </p:txBody>
      </p:sp>
      <p:sp>
        <p:nvSpPr>
          <p:cNvPr id="28" name="Rectangle 27"/>
          <p:cNvSpPr/>
          <p:nvPr/>
        </p:nvSpPr>
        <p:spPr>
          <a:xfrm>
            <a:off x="2514600" y="2450592"/>
            <a:ext cx="2148840" cy="640080"/>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2560320" y="2468880"/>
            <a:ext cx="2057400" cy="594360"/>
          </a:xfrm>
          <a:prstGeom prst="rect">
            <a:avLst/>
          </a:prstGeom>
          <a:noFill/>
        </p:spPr>
        <p:txBody>
          <a:bodyPr wrap="square">
            <a:spAutoFit/>
          </a:bodyPr>
          <a:lstStyle/>
          <a:p>
            <a:pPr algn="ctr"/>
            <a:r>
              <a:rPr sz="1000" b="1" i="0">
                <a:solidFill>
                  <a:srgbClr val="FFFFFF"/>
                </a:solidFill>
              </a:rPr>
              <a:t>2. Visits New
Snack Store
to Repurchase</a:t>
            </a:r>
          </a:p>
        </p:txBody>
      </p:sp>
      <p:sp>
        <p:nvSpPr>
          <p:cNvPr id="30" name="Rectangle 29"/>
          <p:cNvSpPr/>
          <p:nvPr/>
        </p:nvSpPr>
        <p:spPr>
          <a:xfrm>
            <a:off x="2514600" y="3090672"/>
            <a:ext cx="21488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560320" y="3127248"/>
            <a:ext cx="2057400" cy="914400"/>
          </a:xfrm>
          <a:prstGeom prst="rect">
            <a:avLst/>
          </a:prstGeom>
          <a:noFill/>
        </p:spPr>
        <p:txBody>
          <a:bodyPr wrap="square">
            <a:spAutoFit/>
          </a:bodyPr>
          <a:lstStyle/>
          <a:p>
            <a:pPr algn="l"/>
            <a:r>
              <a:rPr sz="1000" b="0" i="0">
                <a:solidFill>
                  <a:srgbClr val="1A1A2E"/>
                </a:solidFill>
              </a:rPr>
              <a:t>Captures demand that
currently leaks to
external retailers</a:t>
            </a:r>
          </a:p>
        </p:txBody>
      </p:sp>
      <p:sp>
        <p:nvSpPr>
          <p:cNvPr id="32" name="TextBox 31"/>
          <p:cNvSpPr txBox="1"/>
          <p:nvPr/>
        </p:nvSpPr>
        <p:spPr>
          <a:xfrm>
            <a:off x="4681727" y="2651760"/>
            <a:ext cx="91440" cy="256032"/>
          </a:xfrm>
          <a:prstGeom prst="rect">
            <a:avLst/>
          </a:prstGeom>
          <a:noFill/>
        </p:spPr>
        <p:txBody>
          <a:bodyPr wrap="square">
            <a:spAutoFit/>
          </a:bodyPr>
          <a:lstStyle/>
          <a:p>
            <a:pPr algn="l"/>
            <a:r>
              <a:rPr sz="1400" b="1" i="0">
                <a:solidFill>
                  <a:srgbClr val="E86B1A"/>
                </a:solidFill>
              </a:rPr>
              <a:t>→</a:t>
            </a:r>
          </a:p>
        </p:txBody>
      </p:sp>
      <p:sp>
        <p:nvSpPr>
          <p:cNvPr id="33" name="Rectangle 32"/>
          <p:cNvSpPr/>
          <p:nvPr/>
        </p:nvSpPr>
        <p:spPr>
          <a:xfrm>
            <a:off x="4754880" y="2450592"/>
            <a:ext cx="2148840" cy="640080"/>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00600" y="2468880"/>
            <a:ext cx="2057400" cy="594360"/>
          </a:xfrm>
          <a:prstGeom prst="rect">
            <a:avLst/>
          </a:prstGeom>
          <a:noFill/>
        </p:spPr>
        <p:txBody>
          <a:bodyPr wrap="square">
            <a:spAutoFit/>
          </a:bodyPr>
          <a:lstStyle/>
          <a:p>
            <a:pPr algn="ctr"/>
            <a:r>
              <a:rPr sz="1000" b="1" i="0">
                <a:solidFill>
                  <a:srgbClr val="FFFFFF"/>
                </a:solidFill>
              </a:rPr>
              <a:t>3. Shares Snack Store
Find on Social Media</a:t>
            </a:r>
          </a:p>
        </p:txBody>
      </p:sp>
      <p:sp>
        <p:nvSpPr>
          <p:cNvPr id="35" name="Rectangle 34"/>
          <p:cNvSpPr/>
          <p:nvPr/>
        </p:nvSpPr>
        <p:spPr>
          <a:xfrm>
            <a:off x="4754880" y="3090672"/>
            <a:ext cx="21488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800600" y="3127248"/>
            <a:ext cx="2057400" cy="914400"/>
          </a:xfrm>
          <a:prstGeom prst="rect">
            <a:avLst/>
          </a:prstGeom>
          <a:noFill/>
        </p:spPr>
        <p:txBody>
          <a:bodyPr wrap="square">
            <a:spAutoFit/>
          </a:bodyPr>
          <a:lstStyle/>
          <a:p>
            <a:pPr algn="l"/>
            <a:r>
              <a:rPr sz="1000" b="0" i="0">
                <a:solidFill>
                  <a:srgbClr val="1A1A2E"/>
                </a:solidFill>
              </a:rPr>
              <a:t>Lower sharing barrier:
not a $30 commitment,
just a snack find</a:t>
            </a:r>
          </a:p>
        </p:txBody>
      </p:sp>
      <p:sp>
        <p:nvSpPr>
          <p:cNvPr id="37" name="TextBox 36"/>
          <p:cNvSpPr txBox="1"/>
          <p:nvPr/>
        </p:nvSpPr>
        <p:spPr>
          <a:xfrm>
            <a:off x="6922008" y="2651760"/>
            <a:ext cx="91440" cy="256032"/>
          </a:xfrm>
          <a:prstGeom prst="rect">
            <a:avLst/>
          </a:prstGeom>
          <a:noFill/>
        </p:spPr>
        <p:txBody>
          <a:bodyPr wrap="square">
            <a:spAutoFit/>
          </a:bodyPr>
          <a:lstStyle/>
          <a:p>
            <a:pPr algn="l"/>
            <a:r>
              <a:rPr sz="1400" b="1" i="0">
                <a:solidFill>
                  <a:srgbClr val="E86B1A"/>
                </a:solidFill>
              </a:rPr>
              <a:t>→</a:t>
            </a:r>
          </a:p>
        </p:txBody>
      </p:sp>
      <p:sp>
        <p:nvSpPr>
          <p:cNvPr id="38" name="Rectangle 37"/>
          <p:cNvSpPr/>
          <p:nvPr/>
        </p:nvSpPr>
        <p:spPr>
          <a:xfrm>
            <a:off x="6995160" y="2450592"/>
            <a:ext cx="2148840" cy="640080"/>
          </a:xfrm>
          <a:prstGeom prst="rect">
            <a:avLst/>
          </a:prstGeom>
          <a:solidFill>
            <a:srgbClr val="BF550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040880" y="2468880"/>
            <a:ext cx="2057400" cy="594360"/>
          </a:xfrm>
          <a:prstGeom prst="rect">
            <a:avLst/>
          </a:prstGeom>
          <a:noFill/>
        </p:spPr>
        <p:txBody>
          <a:bodyPr wrap="square">
            <a:spAutoFit/>
          </a:bodyPr>
          <a:lstStyle/>
          <a:p>
            <a:pPr algn="ctr"/>
            <a:r>
              <a:rPr sz="1000" b="1" i="0">
                <a:solidFill>
                  <a:srgbClr val="FFFFFF"/>
                </a:solidFill>
              </a:rPr>
              <a:t>4. New User Discovers
Craft Snacks via
Snack Store Content</a:t>
            </a:r>
          </a:p>
        </p:txBody>
      </p:sp>
      <p:sp>
        <p:nvSpPr>
          <p:cNvPr id="40" name="Rectangle 39"/>
          <p:cNvSpPr/>
          <p:nvPr/>
        </p:nvSpPr>
        <p:spPr>
          <a:xfrm>
            <a:off x="6995160" y="3090672"/>
            <a:ext cx="21488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040880" y="3127248"/>
            <a:ext cx="2057400" cy="914400"/>
          </a:xfrm>
          <a:prstGeom prst="rect">
            <a:avLst/>
          </a:prstGeom>
          <a:noFill/>
        </p:spPr>
        <p:txBody>
          <a:bodyPr wrap="square">
            <a:spAutoFit/>
          </a:bodyPr>
          <a:lstStyle/>
          <a:p>
            <a:pPr algn="l"/>
            <a:r>
              <a:rPr sz="1000" b="0" i="0">
                <a:solidFill>
                  <a:srgbClr val="1A1A2E"/>
                </a:solidFill>
              </a:rPr>
              <a:t>Reaches customers
hesitant about
full subscription</a:t>
            </a:r>
          </a:p>
        </p:txBody>
      </p:sp>
      <p:sp>
        <p:nvSpPr>
          <p:cNvPr id="42" name="TextBox 41"/>
          <p:cNvSpPr txBox="1"/>
          <p:nvPr/>
        </p:nvSpPr>
        <p:spPr>
          <a:xfrm>
            <a:off x="9162288" y="2651760"/>
            <a:ext cx="91440" cy="256032"/>
          </a:xfrm>
          <a:prstGeom prst="rect">
            <a:avLst/>
          </a:prstGeom>
          <a:noFill/>
        </p:spPr>
        <p:txBody>
          <a:bodyPr wrap="square">
            <a:spAutoFit/>
          </a:bodyPr>
          <a:lstStyle/>
          <a:p>
            <a:pPr algn="l"/>
            <a:r>
              <a:rPr sz="1400" b="1" i="0">
                <a:solidFill>
                  <a:srgbClr val="E86B1A"/>
                </a:solidFill>
              </a:rPr>
              <a:t>→</a:t>
            </a:r>
          </a:p>
        </p:txBody>
      </p:sp>
      <p:sp>
        <p:nvSpPr>
          <p:cNvPr id="43" name="Rectangle 42"/>
          <p:cNvSpPr/>
          <p:nvPr/>
        </p:nvSpPr>
        <p:spPr>
          <a:xfrm>
            <a:off x="9235440" y="2450592"/>
            <a:ext cx="2148840" cy="640080"/>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281160" y="2468880"/>
            <a:ext cx="2057400" cy="594360"/>
          </a:xfrm>
          <a:prstGeom prst="rect">
            <a:avLst/>
          </a:prstGeom>
          <a:noFill/>
        </p:spPr>
        <p:txBody>
          <a:bodyPr wrap="square">
            <a:spAutoFit/>
          </a:bodyPr>
          <a:lstStyle/>
          <a:p>
            <a:pPr algn="ctr"/>
            <a:r>
              <a:rPr sz="1000" b="1" i="0">
                <a:solidFill>
                  <a:srgbClr val="FFFFFF"/>
                </a:solidFill>
              </a:rPr>
              <a:t>5. Upsell to
Monthly Subscription
Box</a:t>
            </a:r>
          </a:p>
        </p:txBody>
      </p:sp>
      <p:sp>
        <p:nvSpPr>
          <p:cNvPr id="45" name="Rectangle 44"/>
          <p:cNvSpPr/>
          <p:nvPr/>
        </p:nvSpPr>
        <p:spPr>
          <a:xfrm>
            <a:off x="9235440" y="3090672"/>
            <a:ext cx="2148840" cy="10058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281160" y="3127248"/>
            <a:ext cx="2057400" cy="914400"/>
          </a:xfrm>
          <a:prstGeom prst="rect">
            <a:avLst/>
          </a:prstGeom>
          <a:noFill/>
        </p:spPr>
        <p:txBody>
          <a:bodyPr wrap="square">
            <a:spAutoFit/>
          </a:bodyPr>
          <a:lstStyle/>
          <a:p>
            <a:pPr algn="l"/>
            <a:r>
              <a:rPr sz="1000" b="0" i="0">
                <a:solidFill>
                  <a:srgbClr val="1A1A2E"/>
                </a:solidFill>
              </a:rPr>
              <a:t>Snack Store buyer →
subscriber via
targeted prompt</a:t>
            </a:r>
          </a:p>
        </p:txBody>
      </p:sp>
      <p:sp>
        <p:nvSpPr>
          <p:cNvPr id="47" name="Rectangle 46"/>
          <p:cNvSpPr/>
          <p:nvPr/>
        </p:nvSpPr>
        <p:spPr>
          <a:xfrm>
            <a:off x="274320" y="4206240"/>
            <a:ext cx="11640312" cy="347472"/>
          </a:xfrm>
          <a:prstGeom prst="rect">
            <a:avLst/>
          </a:prstGeom>
          <a:solidFill>
            <a:srgbClr val="007A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457200" y="4224528"/>
            <a:ext cx="11338560" cy="292608"/>
          </a:xfrm>
          <a:prstGeom prst="rect">
            <a:avLst/>
          </a:prstGeom>
          <a:noFill/>
        </p:spPr>
        <p:txBody>
          <a:bodyPr wrap="square">
            <a:spAutoFit/>
          </a:bodyPr>
          <a:lstStyle/>
          <a:p>
            <a:pPr algn="l"/>
            <a:r>
              <a:rPr sz="1100" b="1" i="0">
                <a:solidFill>
                  <a:srgbClr val="FFFFFF"/>
                </a:solidFill>
              </a:rPr>
              <a:t>HOW THE LOOPS CONNECT:  New subscribers from the Expanded Loop (Snack Store → Subscription upsell) enter the Original Loop and become sharers, further compounding acquisition.</a:t>
            </a:r>
          </a:p>
        </p:txBody>
      </p:sp>
      <p:sp>
        <p:nvSpPr>
          <p:cNvPr id="49" name="Rectangle 48"/>
          <p:cNvSpPr/>
          <p:nvPr/>
        </p:nvSpPr>
        <p:spPr>
          <a:xfrm>
            <a:off x="274320" y="4553712"/>
            <a:ext cx="11640312" cy="1965960"/>
          </a:xfrm>
          <a:prstGeom prst="rect">
            <a:avLst/>
          </a:prstGeom>
          <a:solidFill>
            <a:srgbClr val="E0F4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57200" y="4590288"/>
            <a:ext cx="11338560" cy="1828800"/>
          </a:xfrm>
          <a:prstGeom prst="rect">
            <a:avLst/>
          </a:prstGeom>
          <a:noFill/>
        </p:spPr>
        <p:txBody>
          <a:bodyPr wrap="square">
            <a:spAutoFit/>
          </a:bodyPr>
          <a:lstStyle/>
          <a:p>
            <a:pPr algn="l"/>
            <a:r>
              <a:rPr sz="1200" b="0" i="0">
                <a:solidFill>
                  <a:srgbClr val="1A1A2E"/>
                </a:solidFill>
              </a:rPr>
              <a:t>Combined Loop Impact:
• Original Loop drives direct viral subscription acquisition via social sharing of the box experience
• Expanded Loop captures the 45% retention signal (favorite snack) and creates a new, lower-friction entry point for hesitant potential customers (those blocked by the $30/month commitment)
• Upsell from Snack Store to subscription converts warm, product-qualified leads at higher rates
• Both loops feed each other: more subscribers → more Snack Store users → more shares → more new subscribers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Growth Plan Summary and Rationale</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Tying the Growth Loops Back to the Business Goal</a:t>
            </a:r>
          </a:p>
        </p:txBody>
      </p:sp>
      <p:sp>
        <p:nvSpPr>
          <p:cNvPr id="5" name="Rectangle 4"/>
          <p:cNvSpPr/>
          <p:nvPr/>
        </p:nvSpPr>
        <p:spPr>
          <a:xfrm>
            <a:off x="274320" y="1143000"/>
            <a:ext cx="5394960" cy="384048"/>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1161288"/>
            <a:ext cx="5120640" cy="329184"/>
          </a:xfrm>
          <a:prstGeom prst="rect">
            <a:avLst/>
          </a:prstGeom>
          <a:noFill/>
        </p:spPr>
        <p:txBody>
          <a:bodyPr wrap="square">
            <a:spAutoFit/>
          </a:bodyPr>
          <a:lstStyle/>
          <a:p>
            <a:pPr algn="l"/>
            <a:r>
              <a:rPr sz="1400" b="1" i="0">
                <a:solidFill>
                  <a:srgbClr val="FFFFFF"/>
                </a:solidFill>
              </a:rPr>
              <a:t>ORIGINAL LOOP: Market Penetration</a:t>
            </a:r>
          </a:p>
        </p:txBody>
      </p:sp>
      <p:sp>
        <p:nvSpPr>
          <p:cNvPr id="7" name="Rectangle 6"/>
          <p:cNvSpPr/>
          <p:nvPr/>
        </p:nvSpPr>
        <p:spPr>
          <a:xfrm>
            <a:off x="274320" y="1527048"/>
            <a:ext cx="5394960" cy="48463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11480" y="1600200"/>
            <a:ext cx="5166360" cy="4663440"/>
          </a:xfrm>
          <a:prstGeom prst="rect">
            <a:avLst/>
          </a:prstGeom>
          <a:noFill/>
        </p:spPr>
        <p:txBody>
          <a:bodyPr wrap="square">
            <a:spAutoFit/>
          </a:bodyPr>
          <a:lstStyle/>
          <a:p>
            <a:pPr algn="l"/>
            <a:r>
              <a:rPr sz="1200">
                <a:solidFill>
                  <a:srgbClr val="1A1A2E"/>
                </a:solidFill>
              </a:rPr>
              <a:t>Ansoff Category: MARKET PENETRATION</a:t>
            </a:r>
          </a:p>
          <a:p>
            <a:pPr algn="l"/>
            <a:r>
              <a:rPr sz="1200">
                <a:solidFill>
                  <a:srgbClr val="1A1A2E"/>
                </a:solidFill>
              </a:rPr>
              <a:t>(Existing Product × Existing Market)</a:t>
            </a:r>
          </a:p>
          <a:p>
            <a:pPr algn="l"/>
            <a:endParaRPr sz="1200">
              <a:solidFill>
                <a:srgbClr val="1A1A2E"/>
              </a:solidFill>
            </a:endParaRPr>
          </a:p>
          <a:p>
            <a:pPr algn="l"/>
            <a:r>
              <a:rPr sz="1200">
                <a:solidFill>
                  <a:srgbClr val="1A1A2E"/>
                </a:solidFill>
              </a:rPr>
              <a:t>Rationale:</a:t>
            </a:r>
          </a:p>
          <a:p>
            <a:pPr algn="l"/>
            <a:r>
              <a:rPr sz="1200">
                <a:solidFill>
                  <a:srgbClr val="1A1A2E"/>
                </a:solidFill>
              </a:rPr>
              <a:t>• The data shows 36% of customers already share</a:t>
            </a:r>
          </a:p>
          <a:p>
            <a:pPr algn="l"/>
            <a:r>
              <a:rPr sz="1200">
                <a:solidFill>
                  <a:srgbClr val="1A1A2E"/>
                </a:solidFill>
              </a:rPr>
              <a:t>  spontaneously: this is validated, real behavior</a:t>
            </a:r>
          </a:p>
          <a:p>
            <a:pPr algn="l"/>
            <a:r>
              <a:rPr sz="1200">
                <a:solidFill>
                  <a:srgbClr val="1A1A2E"/>
                </a:solidFill>
              </a:rPr>
              <a:t>• Social media is already 18% of acquisition;</a:t>
            </a:r>
          </a:p>
          <a:p>
            <a:pPr algn="l"/>
            <a:r>
              <a:rPr sz="1200">
                <a:solidFill>
                  <a:srgbClr val="1A1A2E"/>
                </a:solidFill>
              </a:rPr>
              <a:t>  the 'Share My Box' feature amplifies what works</a:t>
            </a:r>
          </a:p>
          <a:p>
            <a:pPr algn="l"/>
            <a:r>
              <a:rPr sz="1200">
                <a:solidFill>
                  <a:srgbClr val="1A1A2E"/>
                </a:solidFill>
              </a:rPr>
              <a:t>• This is the lowest-risk, highest-certainty path</a:t>
            </a:r>
          </a:p>
          <a:p>
            <a:pPr algn="l"/>
            <a:r>
              <a:rPr sz="1200">
                <a:solidFill>
                  <a:srgbClr val="1A1A2E"/>
                </a:solidFill>
              </a:rPr>
              <a:t>  to 20% MoM growth because it builds on proven</a:t>
            </a:r>
          </a:p>
          <a:p>
            <a:pPr algn="l"/>
            <a:r>
              <a:rPr sz="1200">
                <a:solidFill>
                  <a:srgbClr val="1A1A2E"/>
                </a:solidFill>
              </a:rPr>
              <a:t>  customer behavior without requiring new product</a:t>
            </a:r>
          </a:p>
          <a:p>
            <a:pPr algn="l"/>
            <a:r>
              <a:rPr sz="1200">
                <a:solidFill>
                  <a:srgbClr val="1A1A2E"/>
                </a:solidFill>
              </a:rPr>
              <a:t>  development or new market entry</a:t>
            </a:r>
          </a:p>
          <a:p>
            <a:pPr algn="l"/>
            <a:endParaRPr sz="1200">
              <a:solidFill>
                <a:srgbClr val="1A1A2E"/>
              </a:solidFill>
            </a:endParaRPr>
          </a:p>
          <a:p>
            <a:pPr algn="l"/>
            <a:r>
              <a:rPr sz="1200">
                <a:solidFill>
                  <a:srgbClr val="1A1A2E"/>
                </a:solidFill>
              </a:rPr>
              <a:t>Contribution to Business Goal:</a:t>
            </a:r>
          </a:p>
          <a:p>
            <a:pPr algn="l"/>
            <a:r>
              <a:rPr sz="1200">
                <a:solidFill>
                  <a:srgbClr val="1A1A2E"/>
                </a:solidFill>
              </a:rPr>
              <a:t>• Directly increases social referral traffic</a:t>
            </a:r>
          </a:p>
          <a:p>
            <a:pPr algn="l"/>
            <a:r>
              <a:rPr sz="1200">
                <a:solidFill>
                  <a:srgbClr val="1A1A2E"/>
                </a:solidFill>
              </a:rPr>
              <a:t>  (upstream metric) and conversion rate (upstream)</a:t>
            </a:r>
          </a:p>
          <a:p>
            <a:pPr algn="l"/>
            <a:r>
              <a:rPr sz="1200">
                <a:solidFill>
                  <a:srgbClr val="1A1A2E"/>
                </a:solidFill>
              </a:rPr>
              <a:t>  → drives new monthly subscribed users (primary)</a:t>
            </a:r>
          </a:p>
        </p:txBody>
      </p:sp>
      <p:sp>
        <p:nvSpPr>
          <p:cNvPr id="9" name="Rectangle 8"/>
          <p:cNvSpPr/>
          <p:nvPr/>
        </p:nvSpPr>
        <p:spPr>
          <a:xfrm>
            <a:off x="6400800" y="1143000"/>
            <a:ext cx="5486400" cy="38404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583680" y="1161288"/>
            <a:ext cx="5212080" cy="329184"/>
          </a:xfrm>
          <a:prstGeom prst="rect">
            <a:avLst/>
          </a:prstGeom>
          <a:noFill/>
        </p:spPr>
        <p:txBody>
          <a:bodyPr wrap="square">
            <a:spAutoFit/>
          </a:bodyPr>
          <a:lstStyle/>
          <a:p>
            <a:pPr algn="l"/>
            <a:r>
              <a:rPr sz="1400" b="1" i="0">
                <a:solidFill>
                  <a:srgbClr val="FFFFFF"/>
                </a:solidFill>
              </a:rPr>
              <a:t>EXPANDED LOOP: Product Development</a:t>
            </a:r>
          </a:p>
        </p:txBody>
      </p:sp>
      <p:sp>
        <p:nvSpPr>
          <p:cNvPr id="11" name="Rectangle 10"/>
          <p:cNvSpPr/>
          <p:nvPr/>
        </p:nvSpPr>
        <p:spPr>
          <a:xfrm>
            <a:off x="6400800" y="1527048"/>
            <a:ext cx="5486400" cy="4846320"/>
          </a:xfrm>
          <a:prstGeom prst="rect">
            <a:avLst/>
          </a:prstGeom>
          <a:solidFill>
            <a:srgbClr val="E8E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600200"/>
            <a:ext cx="5257800" cy="4663440"/>
          </a:xfrm>
          <a:prstGeom prst="rect">
            <a:avLst/>
          </a:prstGeom>
          <a:noFill/>
        </p:spPr>
        <p:txBody>
          <a:bodyPr wrap="square">
            <a:spAutoFit/>
          </a:bodyPr>
          <a:lstStyle/>
          <a:p>
            <a:pPr algn="l"/>
            <a:r>
              <a:rPr sz="1200">
                <a:solidFill>
                  <a:srgbClr val="1A1A2E"/>
                </a:solidFill>
              </a:rPr>
              <a:t>Ansoff Category: PRODUCT DEVELOPMENT</a:t>
            </a:r>
          </a:p>
          <a:p>
            <a:pPr algn="l"/>
            <a:r>
              <a:rPr sz="1200">
                <a:solidFill>
                  <a:srgbClr val="1A1A2E"/>
                </a:solidFill>
              </a:rPr>
              <a:t>(New Product × Existing Market)</a:t>
            </a:r>
          </a:p>
          <a:p>
            <a:pPr algn="l"/>
            <a:endParaRPr sz="1200">
              <a:solidFill>
                <a:srgbClr val="1A1A2E"/>
              </a:solidFill>
            </a:endParaRPr>
          </a:p>
          <a:p>
            <a:pPr algn="l"/>
            <a:r>
              <a:rPr sz="1200">
                <a:solidFill>
                  <a:srgbClr val="1A1A2E"/>
                </a:solidFill>
              </a:rPr>
              <a:t>Rationale:</a:t>
            </a:r>
          </a:p>
          <a:p>
            <a:pPr algn="l"/>
            <a:r>
              <a:rPr sz="1200">
                <a:solidFill>
                  <a:srgbClr val="1A1A2E"/>
                </a:solidFill>
              </a:rPr>
              <a:t>• 45% of subscribers already try to find and</a:t>
            </a:r>
          </a:p>
          <a:p>
            <a:pPr algn="l"/>
            <a:r>
              <a:rPr sz="1200">
                <a:solidFill>
                  <a:srgbClr val="1A1A2E"/>
                </a:solidFill>
              </a:rPr>
              <a:t>  re-purchase favorites: proven unmet demand</a:t>
            </a:r>
          </a:p>
          <a:p>
            <a:pPr algn="l"/>
            <a:r>
              <a:rPr sz="1200">
                <a:solidFill>
                  <a:srgbClr val="1A1A2E"/>
                </a:solidFill>
              </a:rPr>
              <a:t>• Snack Store captures value leaking to external</a:t>
            </a:r>
          </a:p>
          <a:p>
            <a:pPr algn="l"/>
            <a:r>
              <a:rPr sz="1200">
                <a:solidFill>
                  <a:srgbClr val="1A1A2E"/>
                </a:solidFill>
              </a:rPr>
              <a:t>  retailers and converts it into a new acquisition</a:t>
            </a:r>
          </a:p>
          <a:p>
            <a:pPr algn="l"/>
            <a:r>
              <a:rPr sz="1200">
                <a:solidFill>
                  <a:srgbClr val="1A1A2E"/>
                </a:solidFill>
              </a:rPr>
              <a:t>  entry point for subscription-hesitant customers</a:t>
            </a:r>
          </a:p>
          <a:p>
            <a:pPr algn="l"/>
            <a:r>
              <a:rPr sz="1200">
                <a:solidFill>
                  <a:srgbClr val="1A1A2E"/>
                </a:solidFill>
              </a:rPr>
              <a:t>• Creates a warm-lead upsell funnel: Snack Store</a:t>
            </a:r>
          </a:p>
          <a:p>
            <a:pPr algn="l"/>
            <a:r>
              <a:rPr sz="1200">
                <a:solidFill>
                  <a:srgbClr val="1A1A2E"/>
                </a:solidFill>
              </a:rPr>
              <a:t>  buyers are product-qualified leads who already</a:t>
            </a:r>
          </a:p>
          <a:p>
            <a:pPr algn="l"/>
            <a:r>
              <a:rPr sz="1200">
                <a:solidFill>
                  <a:srgbClr val="1A1A2E"/>
                </a:solidFill>
              </a:rPr>
              <a:t>  trust Craft Snacks quality (addressing the #1</a:t>
            </a:r>
          </a:p>
          <a:p>
            <a:pPr algn="l"/>
            <a:r>
              <a:rPr sz="1200">
                <a:solidFill>
                  <a:srgbClr val="1A1A2E"/>
                </a:solidFill>
              </a:rPr>
              <a:t>  barrier for potential customers)</a:t>
            </a:r>
          </a:p>
          <a:p>
            <a:pPr algn="l"/>
            <a:endParaRPr sz="1200">
              <a:solidFill>
                <a:srgbClr val="1A1A2E"/>
              </a:solidFill>
            </a:endParaRPr>
          </a:p>
          <a:p>
            <a:pPr algn="l"/>
            <a:r>
              <a:rPr sz="1200">
                <a:solidFill>
                  <a:srgbClr val="1A1A2E"/>
                </a:solidFill>
              </a:rPr>
              <a:t>Contribution to Business Goal:</a:t>
            </a:r>
          </a:p>
          <a:p>
            <a:pPr algn="l"/>
            <a:r>
              <a:rPr sz="1200">
                <a:solidFill>
                  <a:srgbClr val="1A1A2E"/>
                </a:solidFill>
              </a:rPr>
              <a:t>• Provides a new upstream path to new subscribed</a:t>
            </a:r>
          </a:p>
          <a:p>
            <a:pPr algn="l"/>
            <a:r>
              <a:rPr sz="1200">
                <a:solidFill>
                  <a:srgbClr val="1A1A2E"/>
                </a:solidFill>
              </a:rPr>
              <a:t>  users via lower-barrier product trial first,</a:t>
            </a:r>
          </a:p>
          <a:p>
            <a:pPr algn="l"/>
            <a:r>
              <a:rPr sz="1200">
                <a:solidFill>
                  <a:srgbClr val="1A1A2E"/>
                </a:solidFill>
              </a:rPr>
              <a:t>  broadening the addressable acquisition funnel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57200" y="1645920"/>
            <a:ext cx="10972800" cy="914400"/>
          </a:xfrm>
          <a:prstGeom prst="rect">
            <a:avLst/>
          </a:prstGeom>
          <a:noFill/>
        </p:spPr>
        <p:txBody>
          <a:bodyPr wrap="square">
            <a:spAutoFit/>
          </a:bodyPr>
          <a:lstStyle/>
          <a:p>
            <a:pPr algn="ctr"/>
            <a:r>
              <a:rPr sz="2200" b="1" i="0">
                <a:solidFill>
                  <a:srgbClr val="E86B1A"/>
                </a:solidFill>
              </a:rPr>
              <a:t>APPENDIX</a:t>
            </a:r>
          </a:p>
        </p:txBody>
      </p:sp>
      <p:sp>
        <p:nvSpPr>
          <p:cNvPr id="4" name="TextBox 3"/>
          <p:cNvSpPr txBox="1"/>
          <p:nvPr/>
        </p:nvSpPr>
        <p:spPr>
          <a:xfrm>
            <a:off x="457200" y="2560320"/>
            <a:ext cx="10972800" cy="1371600"/>
          </a:xfrm>
          <a:prstGeom prst="rect">
            <a:avLst/>
          </a:prstGeom>
          <a:noFill/>
        </p:spPr>
        <p:txBody>
          <a:bodyPr wrap="square">
            <a:spAutoFit/>
          </a:bodyPr>
          <a:lstStyle/>
          <a:p>
            <a:pPr algn="ctr"/>
            <a:r>
              <a:rPr sz="4200" b="1" i="0">
                <a:solidFill>
                  <a:srgbClr val="FFFFFF"/>
                </a:solidFill>
              </a:rPr>
              <a:t>Supplementary Research &amp; Feature Specifications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Appendix: Competitive Research</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Snack Box &amp; Subscription Box Landscape</a:t>
            </a:r>
          </a:p>
        </p:txBody>
      </p:sp>
      <p:sp>
        <p:nvSpPr>
          <p:cNvPr id="5" name="Rectangle 4"/>
          <p:cNvSpPr/>
          <p:nvPr/>
        </p:nvSpPr>
        <p:spPr>
          <a:xfrm>
            <a:off x="228600" y="1143000"/>
            <a:ext cx="2011680"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74320" y="1161288"/>
            <a:ext cx="1938528" cy="310896"/>
          </a:xfrm>
          <a:prstGeom prst="rect">
            <a:avLst/>
          </a:prstGeom>
          <a:noFill/>
        </p:spPr>
        <p:txBody>
          <a:bodyPr wrap="square">
            <a:spAutoFit/>
          </a:bodyPr>
          <a:lstStyle/>
          <a:p>
            <a:pPr algn="ctr"/>
            <a:r>
              <a:rPr sz="1000" b="1" i="0">
                <a:solidFill>
                  <a:srgbClr val="FFFFFF"/>
                </a:solidFill>
              </a:rPr>
              <a:t>Company</a:t>
            </a:r>
          </a:p>
        </p:txBody>
      </p:sp>
      <p:sp>
        <p:nvSpPr>
          <p:cNvPr id="7" name="Rectangle 6"/>
          <p:cNvSpPr/>
          <p:nvPr/>
        </p:nvSpPr>
        <p:spPr>
          <a:xfrm>
            <a:off x="2267712" y="1143000"/>
            <a:ext cx="1463040"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313432" y="1161288"/>
            <a:ext cx="1389888" cy="310896"/>
          </a:xfrm>
          <a:prstGeom prst="rect">
            <a:avLst/>
          </a:prstGeom>
          <a:noFill/>
        </p:spPr>
        <p:txBody>
          <a:bodyPr wrap="square">
            <a:spAutoFit/>
          </a:bodyPr>
          <a:lstStyle/>
          <a:p>
            <a:pPr algn="ctr"/>
            <a:r>
              <a:rPr sz="1000" b="1" i="0">
                <a:solidFill>
                  <a:srgbClr val="FFFFFF"/>
                </a:solidFill>
              </a:rPr>
              <a:t>Price/mo</a:t>
            </a:r>
          </a:p>
        </p:txBody>
      </p:sp>
      <p:sp>
        <p:nvSpPr>
          <p:cNvPr id="9" name="Rectangle 8"/>
          <p:cNvSpPr/>
          <p:nvPr/>
        </p:nvSpPr>
        <p:spPr>
          <a:xfrm>
            <a:off x="3758184" y="1143000"/>
            <a:ext cx="2194560"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803904" y="1161288"/>
            <a:ext cx="2121408" cy="310896"/>
          </a:xfrm>
          <a:prstGeom prst="rect">
            <a:avLst/>
          </a:prstGeom>
          <a:noFill/>
        </p:spPr>
        <p:txBody>
          <a:bodyPr wrap="square">
            <a:spAutoFit/>
          </a:bodyPr>
          <a:lstStyle/>
          <a:p>
            <a:pPr algn="ctr"/>
            <a:r>
              <a:rPr sz="1000" b="1" i="0">
                <a:solidFill>
                  <a:srgbClr val="FFFFFF"/>
                </a:solidFill>
              </a:rPr>
              <a:t>Product Offering</a:t>
            </a:r>
          </a:p>
        </p:txBody>
      </p:sp>
      <p:sp>
        <p:nvSpPr>
          <p:cNvPr id="11" name="Rectangle 10"/>
          <p:cNvSpPr/>
          <p:nvPr/>
        </p:nvSpPr>
        <p:spPr>
          <a:xfrm>
            <a:off x="5980176" y="1143000"/>
            <a:ext cx="2286000"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25896" y="1161288"/>
            <a:ext cx="2212848" cy="310896"/>
          </a:xfrm>
          <a:prstGeom prst="rect">
            <a:avLst/>
          </a:prstGeom>
          <a:noFill/>
        </p:spPr>
        <p:txBody>
          <a:bodyPr wrap="square">
            <a:spAutoFit/>
          </a:bodyPr>
          <a:lstStyle/>
          <a:p>
            <a:pPr algn="ctr"/>
            <a:r>
              <a:rPr sz="1000" b="1" i="0">
                <a:solidFill>
                  <a:srgbClr val="FFFFFF"/>
                </a:solidFill>
              </a:rPr>
              <a:t>User Experience</a:t>
            </a:r>
          </a:p>
        </p:txBody>
      </p:sp>
      <p:sp>
        <p:nvSpPr>
          <p:cNvPr id="13" name="Rectangle 12"/>
          <p:cNvSpPr/>
          <p:nvPr/>
        </p:nvSpPr>
        <p:spPr>
          <a:xfrm>
            <a:off x="8293608" y="1143000"/>
            <a:ext cx="1828800"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39328" y="1161288"/>
            <a:ext cx="1755648" cy="310896"/>
          </a:xfrm>
          <a:prstGeom prst="rect">
            <a:avLst/>
          </a:prstGeom>
          <a:noFill/>
        </p:spPr>
        <p:txBody>
          <a:bodyPr wrap="square">
            <a:spAutoFit/>
          </a:bodyPr>
          <a:lstStyle/>
          <a:p>
            <a:pPr algn="ctr"/>
            <a:r>
              <a:rPr sz="1000" b="1" i="0">
                <a:solidFill>
                  <a:srgbClr val="FFFFFF"/>
                </a:solidFill>
              </a:rPr>
              <a:t>Target Customer</a:t>
            </a:r>
          </a:p>
        </p:txBody>
      </p:sp>
      <p:sp>
        <p:nvSpPr>
          <p:cNvPr id="15" name="Rectangle 14"/>
          <p:cNvSpPr/>
          <p:nvPr/>
        </p:nvSpPr>
        <p:spPr>
          <a:xfrm>
            <a:off x="10149840" y="1143000"/>
            <a:ext cx="2011680" cy="36576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195560" y="1161288"/>
            <a:ext cx="1938528" cy="310896"/>
          </a:xfrm>
          <a:prstGeom prst="rect">
            <a:avLst/>
          </a:prstGeom>
          <a:noFill/>
        </p:spPr>
        <p:txBody>
          <a:bodyPr wrap="square">
            <a:spAutoFit/>
          </a:bodyPr>
          <a:lstStyle/>
          <a:p>
            <a:pPr algn="ctr"/>
            <a:r>
              <a:rPr sz="1000" b="1" i="0">
                <a:solidFill>
                  <a:srgbClr val="FFFFFF"/>
                </a:solidFill>
              </a:rPr>
              <a:t>Key Differentiator</a:t>
            </a:r>
          </a:p>
        </p:txBody>
      </p:sp>
      <p:sp>
        <p:nvSpPr>
          <p:cNvPr id="17" name="Rectangle 16"/>
          <p:cNvSpPr/>
          <p:nvPr/>
        </p:nvSpPr>
        <p:spPr>
          <a:xfrm>
            <a:off x="228600" y="1508760"/>
            <a:ext cx="2011680" cy="960120"/>
          </a:xfrm>
          <a:prstGeom prst="rect">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3464" y="1545336"/>
            <a:ext cx="1920240" cy="868680"/>
          </a:xfrm>
          <a:prstGeom prst="rect">
            <a:avLst/>
          </a:prstGeom>
          <a:noFill/>
        </p:spPr>
        <p:txBody>
          <a:bodyPr wrap="square">
            <a:spAutoFit/>
          </a:bodyPr>
          <a:lstStyle/>
          <a:p>
            <a:pPr algn="l"/>
            <a:r>
              <a:rPr sz="1000" b="0" i="0">
                <a:solidFill>
                  <a:srgbClr val="1A1A2E"/>
                </a:solidFill>
              </a:rPr>
              <a:t>Craft Snacks
(Us)</a:t>
            </a:r>
          </a:p>
        </p:txBody>
      </p:sp>
      <p:sp>
        <p:nvSpPr>
          <p:cNvPr id="19" name="Rectangle 18"/>
          <p:cNvSpPr/>
          <p:nvPr/>
        </p:nvSpPr>
        <p:spPr>
          <a:xfrm>
            <a:off x="2267712" y="1508760"/>
            <a:ext cx="1463040" cy="960120"/>
          </a:xfrm>
          <a:prstGeom prst="rect">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322576" y="1545336"/>
            <a:ext cx="1371600" cy="868680"/>
          </a:xfrm>
          <a:prstGeom prst="rect">
            <a:avLst/>
          </a:prstGeom>
          <a:noFill/>
        </p:spPr>
        <p:txBody>
          <a:bodyPr wrap="square">
            <a:spAutoFit/>
          </a:bodyPr>
          <a:lstStyle/>
          <a:p>
            <a:pPr algn="l"/>
            <a:r>
              <a:rPr sz="1000" b="0" i="0">
                <a:solidFill>
                  <a:srgbClr val="1A1A2E"/>
                </a:solidFill>
              </a:rPr>
              <a:t>$30</a:t>
            </a:r>
          </a:p>
        </p:txBody>
      </p:sp>
      <p:sp>
        <p:nvSpPr>
          <p:cNvPr id="21" name="Rectangle 20"/>
          <p:cNvSpPr/>
          <p:nvPr/>
        </p:nvSpPr>
        <p:spPr>
          <a:xfrm>
            <a:off x="3758184" y="1508760"/>
            <a:ext cx="2194560" cy="960120"/>
          </a:xfrm>
          <a:prstGeom prst="rect">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813048" y="1545336"/>
            <a:ext cx="2103120" cy="868680"/>
          </a:xfrm>
          <a:prstGeom prst="rect">
            <a:avLst/>
          </a:prstGeom>
          <a:noFill/>
        </p:spPr>
        <p:txBody>
          <a:bodyPr wrap="square">
            <a:spAutoFit/>
          </a:bodyPr>
          <a:lstStyle/>
          <a:p>
            <a:pPr algn="l"/>
            <a:r>
              <a:rPr sz="1000" b="0" i="0">
                <a:solidFill>
                  <a:srgbClr val="1A1A2E"/>
                </a:solidFill>
              </a:rPr>
              <a:t>Monthly themed
artisan snack box
10-15 items</a:t>
            </a:r>
          </a:p>
        </p:txBody>
      </p:sp>
      <p:sp>
        <p:nvSpPr>
          <p:cNvPr id="23" name="Rectangle 22"/>
          <p:cNvSpPr/>
          <p:nvPr/>
        </p:nvSpPr>
        <p:spPr>
          <a:xfrm>
            <a:off x="5980176" y="1508760"/>
            <a:ext cx="2286000" cy="960120"/>
          </a:xfrm>
          <a:prstGeom prst="rect">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0" y="1545336"/>
            <a:ext cx="2194560" cy="868680"/>
          </a:xfrm>
          <a:prstGeom prst="rect">
            <a:avLst/>
          </a:prstGeom>
          <a:noFill/>
        </p:spPr>
        <p:txBody>
          <a:bodyPr wrap="square">
            <a:spAutoFit/>
          </a:bodyPr>
          <a:lstStyle/>
          <a:p>
            <a:pPr algn="l"/>
            <a:r>
              <a:rPr sz="1000" b="0" i="0">
                <a:solidFill>
                  <a:srgbClr val="1A1A2E"/>
                </a:solidFill>
              </a:rPr>
              <a:t>Web-only; simple
theme selection;
order tracking</a:t>
            </a:r>
          </a:p>
        </p:txBody>
      </p:sp>
      <p:sp>
        <p:nvSpPr>
          <p:cNvPr id="25" name="Rectangle 24"/>
          <p:cNvSpPr/>
          <p:nvPr/>
        </p:nvSpPr>
        <p:spPr>
          <a:xfrm>
            <a:off x="8293608" y="1508760"/>
            <a:ext cx="1828800" cy="960120"/>
          </a:xfrm>
          <a:prstGeom prst="rect">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48472" y="1545336"/>
            <a:ext cx="1737360" cy="868680"/>
          </a:xfrm>
          <a:prstGeom prst="rect">
            <a:avLst/>
          </a:prstGeom>
          <a:noFill/>
        </p:spPr>
        <p:txBody>
          <a:bodyPr wrap="square">
            <a:spAutoFit/>
          </a:bodyPr>
          <a:lstStyle/>
          <a:p>
            <a:pPr algn="l"/>
            <a:r>
              <a:rPr sz="1000" b="0" i="0">
                <a:solidFill>
                  <a:srgbClr val="1A1A2E"/>
                </a:solidFill>
              </a:rPr>
              <a:t>Experience-seekers
&amp; snack adventurers</a:t>
            </a:r>
          </a:p>
        </p:txBody>
      </p:sp>
      <p:sp>
        <p:nvSpPr>
          <p:cNvPr id="27" name="Rectangle 26"/>
          <p:cNvSpPr/>
          <p:nvPr/>
        </p:nvSpPr>
        <p:spPr>
          <a:xfrm>
            <a:off x="10149840" y="1508760"/>
            <a:ext cx="2011680" cy="960120"/>
          </a:xfrm>
          <a:prstGeom prst="rect">
            <a:avLst/>
          </a:prstGeom>
          <a:solidFill>
            <a:srgbClr val="FFF0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204704" y="1545336"/>
            <a:ext cx="1920240" cy="868680"/>
          </a:xfrm>
          <a:prstGeom prst="rect">
            <a:avLst/>
          </a:prstGeom>
          <a:noFill/>
        </p:spPr>
        <p:txBody>
          <a:bodyPr wrap="square">
            <a:spAutoFit/>
          </a:bodyPr>
          <a:lstStyle/>
          <a:p>
            <a:pPr algn="l"/>
            <a:r>
              <a:rPr sz="1000" b="0" i="0">
                <a:solidFill>
                  <a:srgbClr val="1A1A2E"/>
                </a:solidFill>
              </a:rPr>
              <a:t>Monthly rotating
themes; element
of surprise</a:t>
            </a:r>
          </a:p>
        </p:txBody>
      </p:sp>
      <p:sp>
        <p:nvSpPr>
          <p:cNvPr id="29" name="Rectangle 28"/>
          <p:cNvSpPr/>
          <p:nvPr/>
        </p:nvSpPr>
        <p:spPr>
          <a:xfrm>
            <a:off x="228600" y="2514600"/>
            <a:ext cx="20116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83464" y="2551176"/>
            <a:ext cx="1920240" cy="868680"/>
          </a:xfrm>
          <a:prstGeom prst="rect">
            <a:avLst/>
          </a:prstGeom>
          <a:noFill/>
        </p:spPr>
        <p:txBody>
          <a:bodyPr wrap="square">
            <a:spAutoFit/>
          </a:bodyPr>
          <a:lstStyle/>
          <a:p>
            <a:pPr algn="l"/>
            <a:r>
              <a:rPr sz="1000" b="0" i="0">
                <a:solidFill>
                  <a:srgbClr val="1A1A2E"/>
                </a:solidFill>
              </a:rPr>
              <a:t>Snack Crate</a:t>
            </a:r>
          </a:p>
        </p:txBody>
      </p:sp>
      <p:sp>
        <p:nvSpPr>
          <p:cNvPr id="31" name="Rectangle 30"/>
          <p:cNvSpPr/>
          <p:nvPr/>
        </p:nvSpPr>
        <p:spPr>
          <a:xfrm>
            <a:off x="2267712" y="2514600"/>
            <a:ext cx="146304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322576" y="2551176"/>
            <a:ext cx="1371600" cy="868680"/>
          </a:xfrm>
          <a:prstGeom prst="rect">
            <a:avLst/>
          </a:prstGeom>
          <a:noFill/>
        </p:spPr>
        <p:txBody>
          <a:bodyPr wrap="square">
            <a:spAutoFit/>
          </a:bodyPr>
          <a:lstStyle/>
          <a:p>
            <a:pPr algn="l"/>
            <a:r>
              <a:rPr sz="1000" b="0" i="0">
                <a:solidFill>
                  <a:srgbClr val="1A1A2E"/>
                </a:solidFill>
              </a:rPr>
              <a:t>$27-$45</a:t>
            </a:r>
          </a:p>
        </p:txBody>
      </p:sp>
      <p:sp>
        <p:nvSpPr>
          <p:cNvPr id="33" name="Rectangle 32"/>
          <p:cNvSpPr/>
          <p:nvPr/>
        </p:nvSpPr>
        <p:spPr>
          <a:xfrm>
            <a:off x="3758184" y="2514600"/>
            <a:ext cx="219456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813048" y="2551176"/>
            <a:ext cx="2103120" cy="868680"/>
          </a:xfrm>
          <a:prstGeom prst="rect">
            <a:avLst/>
          </a:prstGeom>
          <a:noFill/>
        </p:spPr>
        <p:txBody>
          <a:bodyPr wrap="square">
            <a:spAutoFit/>
          </a:bodyPr>
          <a:lstStyle/>
          <a:p>
            <a:pPr algn="l"/>
            <a:r>
              <a:rPr sz="1000" b="0" i="0">
                <a:solidFill>
                  <a:srgbClr val="1A1A2E"/>
                </a:solidFill>
              </a:rPr>
              <a:t>International snack
boxes by country;
5-25 items</a:t>
            </a:r>
          </a:p>
        </p:txBody>
      </p:sp>
      <p:sp>
        <p:nvSpPr>
          <p:cNvPr id="35" name="Rectangle 34"/>
          <p:cNvSpPr/>
          <p:nvPr/>
        </p:nvSpPr>
        <p:spPr>
          <a:xfrm>
            <a:off x="5980176" y="2514600"/>
            <a:ext cx="228600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035040" y="2551176"/>
            <a:ext cx="2194560" cy="868680"/>
          </a:xfrm>
          <a:prstGeom prst="rect">
            <a:avLst/>
          </a:prstGeom>
          <a:noFill/>
        </p:spPr>
        <p:txBody>
          <a:bodyPr wrap="square">
            <a:spAutoFit/>
          </a:bodyPr>
          <a:lstStyle/>
          <a:p>
            <a:pPr algn="l"/>
            <a:r>
              <a:rPr sz="1000" b="0" i="0">
                <a:solidFill>
                  <a:srgbClr val="1A1A2E"/>
                </a:solidFill>
              </a:rPr>
              <a:t>Web &amp; mobile;
country explorer
theme selector</a:t>
            </a:r>
          </a:p>
        </p:txBody>
      </p:sp>
      <p:sp>
        <p:nvSpPr>
          <p:cNvPr id="37" name="Rectangle 36"/>
          <p:cNvSpPr/>
          <p:nvPr/>
        </p:nvSpPr>
        <p:spPr>
          <a:xfrm>
            <a:off x="8293608" y="2514600"/>
            <a:ext cx="182880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48472" y="2551176"/>
            <a:ext cx="1737360" cy="868680"/>
          </a:xfrm>
          <a:prstGeom prst="rect">
            <a:avLst/>
          </a:prstGeom>
          <a:noFill/>
        </p:spPr>
        <p:txBody>
          <a:bodyPr wrap="square">
            <a:spAutoFit/>
          </a:bodyPr>
          <a:lstStyle/>
          <a:p>
            <a:pPr algn="l"/>
            <a:r>
              <a:rPr sz="1000" b="0" i="0">
                <a:solidFill>
                  <a:srgbClr val="1A1A2E"/>
                </a:solidFill>
              </a:rPr>
              <a:t>Foodies &amp; world
culture enthusiasts</a:t>
            </a:r>
          </a:p>
        </p:txBody>
      </p:sp>
      <p:sp>
        <p:nvSpPr>
          <p:cNvPr id="39" name="Rectangle 38"/>
          <p:cNvSpPr/>
          <p:nvPr/>
        </p:nvSpPr>
        <p:spPr>
          <a:xfrm>
            <a:off x="10149840" y="2514600"/>
            <a:ext cx="20116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204704" y="2551176"/>
            <a:ext cx="1920240" cy="868680"/>
          </a:xfrm>
          <a:prstGeom prst="rect">
            <a:avLst/>
          </a:prstGeom>
          <a:noFill/>
        </p:spPr>
        <p:txBody>
          <a:bodyPr wrap="square">
            <a:spAutoFit/>
          </a:bodyPr>
          <a:lstStyle/>
          <a:p>
            <a:pPr algn="l"/>
            <a:r>
              <a:rPr sz="1000" b="0" i="0">
                <a:solidFill>
                  <a:srgbClr val="1A1A2E"/>
                </a:solidFill>
              </a:rPr>
              <a:t>Country-specific
curation; cultural
education angle</a:t>
            </a:r>
          </a:p>
        </p:txBody>
      </p:sp>
      <p:sp>
        <p:nvSpPr>
          <p:cNvPr id="41" name="Rectangle 40"/>
          <p:cNvSpPr/>
          <p:nvPr/>
        </p:nvSpPr>
        <p:spPr>
          <a:xfrm>
            <a:off x="228600" y="3520440"/>
            <a:ext cx="201168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83464" y="3557016"/>
            <a:ext cx="1920240" cy="868680"/>
          </a:xfrm>
          <a:prstGeom prst="rect">
            <a:avLst/>
          </a:prstGeom>
          <a:noFill/>
        </p:spPr>
        <p:txBody>
          <a:bodyPr wrap="square">
            <a:spAutoFit/>
          </a:bodyPr>
          <a:lstStyle/>
          <a:p>
            <a:pPr algn="l"/>
            <a:r>
              <a:rPr sz="1000" b="0" i="0">
                <a:solidFill>
                  <a:srgbClr val="1A1A2E"/>
                </a:solidFill>
              </a:rPr>
              <a:t>Graze</a:t>
            </a:r>
          </a:p>
        </p:txBody>
      </p:sp>
      <p:sp>
        <p:nvSpPr>
          <p:cNvPr id="43" name="Rectangle 42"/>
          <p:cNvSpPr/>
          <p:nvPr/>
        </p:nvSpPr>
        <p:spPr>
          <a:xfrm>
            <a:off x="2267712" y="3520440"/>
            <a:ext cx="146304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322576" y="3557016"/>
            <a:ext cx="1371600" cy="868680"/>
          </a:xfrm>
          <a:prstGeom prst="rect">
            <a:avLst/>
          </a:prstGeom>
          <a:noFill/>
        </p:spPr>
        <p:txBody>
          <a:bodyPr wrap="square">
            <a:spAutoFit/>
          </a:bodyPr>
          <a:lstStyle/>
          <a:p>
            <a:pPr algn="l"/>
            <a:r>
              <a:rPr sz="1000" b="0" i="0">
                <a:solidFill>
                  <a:srgbClr val="1A1A2E"/>
                </a:solidFill>
              </a:rPr>
              <a:t>$13-$40</a:t>
            </a:r>
          </a:p>
        </p:txBody>
      </p:sp>
      <p:sp>
        <p:nvSpPr>
          <p:cNvPr id="45" name="Rectangle 44"/>
          <p:cNvSpPr/>
          <p:nvPr/>
        </p:nvSpPr>
        <p:spPr>
          <a:xfrm>
            <a:off x="3758184" y="3520440"/>
            <a:ext cx="219456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3813048" y="3557016"/>
            <a:ext cx="2103120" cy="868680"/>
          </a:xfrm>
          <a:prstGeom prst="rect">
            <a:avLst/>
          </a:prstGeom>
          <a:noFill/>
        </p:spPr>
        <p:txBody>
          <a:bodyPr wrap="square">
            <a:spAutoFit/>
          </a:bodyPr>
          <a:lstStyle/>
          <a:p>
            <a:pPr algn="l"/>
            <a:r>
              <a:rPr sz="1000" b="0" i="0">
                <a:solidFill>
                  <a:srgbClr val="1A1A2E"/>
                </a:solidFill>
              </a:rPr>
              <a:t>Personalized healthy
snack boxes;
customizable items</a:t>
            </a:r>
          </a:p>
        </p:txBody>
      </p:sp>
      <p:sp>
        <p:nvSpPr>
          <p:cNvPr id="47" name="Rectangle 46"/>
          <p:cNvSpPr/>
          <p:nvPr/>
        </p:nvSpPr>
        <p:spPr>
          <a:xfrm>
            <a:off x="5980176" y="3520440"/>
            <a:ext cx="228600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035040" y="3557016"/>
            <a:ext cx="2194560" cy="868680"/>
          </a:xfrm>
          <a:prstGeom prst="rect">
            <a:avLst/>
          </a:prstGeom>
          <a:noFill/>
        </p:spPr>
        <p:txBody>
          <a:bodyPr wrap="square">
            <a:spAutoFit/>
          </a:bodyPr>
          <a:lstStyle/>
          <a:p>
            <a:pPr algn="l"/>
            <a:r>
              <a:rPr sz="1000" b="0" i="0">
                <a:solidFill>
                  <a:srgbClr val="1A1A2E"/>
                </a:solidFill>
              </a:rPr>
              <a:t>Web &amp; mobile;
detailed taste
preference quiz</a:t>
            </a:r>
          </a:p>
        </p:txBody>
      </p:sp>
      <p:sp>
        <p:nvSpPr>
          <p:cNvPr id="49" name="Rectangle 48"/>
          <p:cNvSpPr/>
          <p:nvPr/>
        </p:nvSpPr>
        <p:spPr>
          <a:xfrm>
            <a:off x="8293608" y="3520440"/>
            <a:ext cx="182880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348472" y="3557016"/>
            <a:ext cx="1737360" cy="868680"/>
          </a:xfrm>
          <a:prstGeom prst="rect">
            <a:avLst/>
          </a:prstGeom>
          <a:noFill/>
        </p:spPr>
        <p:txBody>
          <a:bodyPr wrap="square">
            <a:spAutoFit/>
          </a:bodyPr>
          <a:lstStyle/>
          <a:p>
            <a:pPr algn="l"/>
            <a:r>
              <a:rPr sz="1000" b="0" i="0">
                <a:solidFill>
                  <a:srgbClr val="1A1A2E"/>
                </a:solidFill>
              </a:rPr>
              <a:t>Health-conscious
adults; office snack
programs</a:t>
            </a:r>
          </a:p>
        </p:txBody>
      </p:sp>
      <p:sp>
        <p:nvSpPr>
          <p:cNvPr id="51" name="Rectangle 50"/>
          <p:cNvSpPr/>
          <p:nvPr/>
        </p:nvSpPr>
        <p:spPr>
          <a:xfrm>
            <a:off x="10149840" y="3520440"/>
            <a:ext cx="201168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04704" y="3557016"/>
            <a:ext cx="1920240" cy="868680"/>
          </a:xfrm>
          <a:prstGeom prst="rect">
            <a:avLst/>
          </a:prstGeom>
          <a:noFill/>
        </p:spPr>
        <p:txBody>
          <a:bodyPr wrap="square">
            <a:spAutoFit/>
          </a:bodyPr>
          <a:lstStyle/>
          <a:p>
            <a:pPr algn="l"/>
            <a:r>
              <a:rPr sz="1000" b="0" i="0">
                <a:solidFill>
                  <a:srgbClr val="1A1A2E"/>
                </a:solidFill>
              </a:rPr>
              <a:t>Full customization;
healthy focus;
corporate tier</a:t>
            </a:r>
          </a:p>
        </p:txBody>
      </p:sp>
      <p:sp>
        <p:nvSpPr>
          <p:cNvPr id="53" name="Rectangle 52"/>
          <p:cNvSpPr/>
          <p:nvPr/>
        </p:nvSpPr>
        <p:spPr>
          <a:xfrm>
            <a:off x="228600" y="4526280"/>
            <a:ext cx="20116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283464" y="4562856"/>
            <a:ext cx="1920240" cy="868680"/>
          </a:xfrm>
          <a:prstGeom prst="rect">
            <a:avLst/>
          </a:prstGeom>
          <a:noFill/>
        </p:spPr>
        <p:txBody>
          <a:bodyPr wrap="square">
            <a:spAutoFit/>
          </a:bodyPr>
          <a:lstStyle/>
          <a:p>
            <a:pPr algn="l"/>
            <a:r>
              <a:rPr sz="1000" b="0" i="0">
                <a:solidFill>
                  <a:srgbClr val="1A1A2E"/>
                </a:solidFill>
              </a:rPr>
              <a:t>Mouth</a:t>
            </a:r>
          </a:p>
        </p:txBody>
      </p:sp>
      <p:sp>
        <p:nvSpPr>
          <p:cNvPr id="55" name="Rectangle 54"/>
          <p:cNvSpPr/>
          <p:nvPr/>
        </p:nvSpPr>
        <p:spPr>
          <a:xfrm>
            <a:off x="2267712" y="4526280"/>
            <a:ext cx="146304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2322576" y="4562856"/>
            <a:ext cx="1371600" cy="868680"/>
          </a:xfrm>
          <a:prstGeom prst="rect">
            <a:avLst/>
          </a:prstGeom>
          <a:noFill/>
        </p:spPr>
        <p:txBody>
          <a:bodyPr wrap="square">
            <a:spAutoFit/>
          </a:bodyPr>
          <a:lstStyle/>
          <a:p>
            <a:pPr algn="l"/>
            <a:r>
              <a:rPr sz="1000" b="0" i="0">
                <a:solidFill>
                  <a:srgbClr val="1A1A2E"/>
                </a:solidFill>
              </a:rPr>
              <a:t>$35-$75</a:t>
            </a:r>
          </a:p>
        </p:txBody>
      </p:sp>
      <p:sp>
        <p:nvSpPr>
          <p:cNvPr id="57" name="Rectangle 56"/>
          <p:cNvSpPr/>
          <p:nvPr/>
        </p:nvSpPr>
        <p:spPr>
          <a:xfrm>
            <a:off x="3758184" y="4526280"/>
            <a:ext cx="219456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3813048" y="4562856"/>
            <a:ext cx="2103120" cy="868680"/>
          </a:xfrm>
          <a:prstGeom prst="rect">
            <a:avLst/>
          </a:prstGeom>
          <a:noFill/>
        </p:spPr>
        <p:txBody>
          <a:bodyPr wrap="square">
            <a:spAutoFit/>
          </a:bodyPr>
          <a:lstStyle/>
          <a:p>
            <a:pPr algn="l"/>
            <a:r>
              <a:rPr sz="1000" b="0" i="0">
                <a:solidFill>
                  <a:srgbClr val="1A1A2E"/>
                </a:solidFill>
              </a:rPr>
              <a:t>Artisan food &amp;
snack boxes;
small-batch goods</a:t>
            </a:r>
          </a:p>
        </p:txBody>
      </p:sp>
      <p:sp>
        <p:nvSpPr>
          <p:cNvPr id="59" name="Rectangle 58"/>
          <p:cNvSpPr/>
          <p:nvPr/>
        </p:nvSpPr>
        <p:spPr>
          <a:xfrm>
            <a:off x="5980176" y="4526280"/>
            <a:ext cx="228600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6035040" y="4562856"/>
            <a:ext cx="2194560" cy="868680"/>
          </a:xfrm>
          <a:prstGeom prst="rect">
            <a:avLst/>
          </a:prstGeom>
          <a:noFill/>
        </p:spPr>
        <p:txBody>
          <a:bodyPr wrap="square">
            <a:spAutoFit/>
          </a:bodyPr>
          <a:lstStyle/>
          <a:p>
            <a:pPr algn="l"/>
            <a:r>
              <a:rPr sz="1000" b="0" i="0">
                <a:solidFill>
                  <a:srgbClr val="1A1A2E"/>
                </a:solidFill>
              </a:rPr>
              <a:t>Web marketplace
+ subscription;
browsable catalog</a:t>
            </a:r>
          </a:p>
        </p:txBody>
      </p:sp>
      <p:sp>
        <p:nvSpPr>
          <p:cNvPr id="61" name="Rectangle 60"/>
          <p:cNvSpPr/>
          <p:nvPr/>
        </p:nvSpPr>
        <p:spPr>
          <a:xfrm>
            <a:off x="8293608" y="4526280"/>
            <a:ext cx="182880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48472" y="4562856"/>
            <a:ext cx="1737360" cy="868680"/>
          </a:xfrm>
          <a:prstGeom prst="rect">
            <a:avLst/>
          </a:prstGeom>
          <a:noFill/>
        </p:spPr>
        <p:txBody>
          <a:bodyPr wrap="square">
            <a:spAutoFit/>
          </a:bodyPr>
          <a:lstStyle/>
          <a:p>
            <a:pPr algn="l"/>
            <a:r>
              <a:rPr sz="1000" b="0" i="0">
                <a:solidFill>
                  <a:srgbClr val="1A1A2E"/>
                </a:solidFill>
              </a:rPr>
              <a:t>Premium food
lovers; gift buyers</a:t>
            </a:r>
          </a:p>
        </p:txBody>
      </p:sp>
      <p:sp>
        <p:nvSpPr>
          <p:cNvPr id="63" name="Rectangle 62"/>
          <p:cNvSpPr/>
          <p:nvPr/>
        </p:nvSpPr>
        <p:spPr>
          <a:xfrm>
            <a:off x="10149840" y="4526280"/>
            <a:ext cx="2011680" cy="9601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10204704" y="4562856"/>
            <a:ext cx="1920240" cy="868680"/>
          </a:xfrm>
          <a:prstGeom prst="rect">
            <a:avLst/>
          </a:prstGeom>
          <a:noFill/>
        </p:spPr>
        <p:txBody>
          <a:bodyPr wrap="square">
            <a:spAutoFit/>
          </a:bodyPr>
          <a:lstStyle/>
          <a:p>
            <a:pPr algn="l"/>
            <a:r>
              <a:rPr sz="1000" b="0" i="0">
                <a:solidFill>
                  <a:srgbClr val="1A1A2E"/>
                </a:solidFill>
              </a:rPr>
              <a:t>Gift-focused;
standalone store
+ subscription</a:t>
            </a:r>
          </a:p>
        </p:txBody>
      </p:sp>
      <p:sp>
        <p:nvSpPr>
          <p:cNvPr id="65" name="Rectangle 64"/>
          <p:cNvSpPr/>
          <p:nvPr/>
        </p:nvSpPr>
        <p:spPr>
          <a:xfrm>
            <a:off x="228600" y="5532120"/>
            <a:ext cx="201168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283464" y="5568696"/>
            <a:ext cx="1920240" cy="868680"/>
          </a:xfrm>
          <a:prstGeom prst="rect">
            <a:avLst/>
          </a:prstGeom>
          <a:noFill/>
        </p:spPr>
        <p:txBody>
          <a:bodyPr wrap="square">
            <a:spAutoFit/>
          </a:bodyPr>
          <a:lstStyle/>
          <a:p>
            <a:pPr algn="l"/>
            <a:r>
              <a:rPr sz="1000" b="0" i="0">
                <a:solidFill>
                  <a:srgbClr val="1A1A2E"/>
                </a:solidFill>
              </a:rPr>
              <a:t>SnackMagic</a:t>
            </a:r>
          </a:p>
        </p:txBody>
      </p:sp>
      <p:sp>
        <p:nvSpPr>
          <p:cNvPr id="67" name="Rectangle 66"/>
          <p:cNvSpPr/>
          <p:nvPr/>
        </p:nvSpPr>
        <p:spPr>
          <a:xfrm>
            <a:off x="2267712" y="5532120"/>
            <a:ext cx="146304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322576" y="5568696"/>
            <a:ext cx="1371600" cy="868680"/>
          </a:xfrm>
          <a:prstGeom prst="rect">
            <a:avLst/>
          </a:prstGeom>
          <a:noFill/>
        </p:spPr>
        <p:txBody>
          <a:bodyPr wrap="square">
            <a:spAutoFit/>
          </a:bodyPr>
          <a:lstStyle/>
          <a:p>
            <a:pPr algn="l"/>
            <a:r>
              <a:rPr sz="1000" b="0" i="0">
                <a:solidFill>
                  <a:srgbClr val="1A1A2E"/>
                </a:solidFill>
              </a:rPr>
              <a:t>$25-$100</a:t>
            </a:r>
          </a:p>
        </p:txBody>
      </p:sp>
      <p:sp>
        <p:nvSpPr>
          <p:cNvPr id="69" name="Rectangle 68"/>
          <p:cNvSpPr/>
          <p:nvPr/>
        </p:nvSpPr>
        <p:spPr>
          <a:xfrm>
            <a:off x="3758184" y="5532120"/>
            <a:ext cx="219456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3813048" y="5568696"/>
            <a:ext cx="2103120" cy="868680"/>
          </a:xfrm>
          <a:prstGeom prst="rect">
            <a:avLst/>
          </a:prstGeom>
          <a:noFill/>
        </p:spPr>
        <p:txBody>
          <a:bodyPr wrap="square">
            <a:spAutoFit/>
          </a:bodyPr>
          <a:lstStyle/>
          <a:p>
            <a:pPr algn="l"/>
            <a:r>
              <a:rPr sz="1000" b="0" i="0">
                <a:solidFill>
                  <a:srgbClr val="1A1A2E"/>
                </a:solidFill>
              </a:rPr>
              <a:t>Build-your-own
snack box from a
catalog of 600+ items</a:t>
            </a:r>
          </a:p>
        </p:txBody>
      </p:sp>
      <p:sp>
        <p:nvSpPr>
          <p:cNvPr id="71" name="Rectangle 70"/>
          <p:cNvSpPr/>
          <p:nvPr/>
        </p:nvSpPr>
        <p:spPr>
          <a:xfrm>
            <a:off x="5980176" y="5532120"/>
            <a:ext cx="228600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6035040" y="5568696"/>
            <a:ext cx="2194560" cy="868680"/>
          </a:xfrm>
          <a:prstGeom prst="rect">
            <a:avLst/>
          </a:prstGeom>
          <a:noFill/>
        </p:spPr>
        <p:txBody>
          <a:bodyPr wrap="square">
            <a:spAutoFit/>
          </a:bodyPr>
          <a:lstStyle/>
          <a:p>
            <a:pPr algn="l"/>
            <a:r>
              <a:rPr sz="1000" b="0" i="0">
                <a:solidFill>
                  <a:srgbClr val="1A1A2E"/>
                </a:solidFill>
              </a:rPr>
              <a:t>Web; employee
benefit platform;
bulk ordering</a:t>
            </a:r>
          </a:p>
        </p:txBody>
      </p:sp>
      <p:sp>
        <p:nvSpPr>
          <p:cNvPr id="73" name="Rectangle 72"/>
          <p:cNvSpPr/>
          <p:nvPr/>
        </p:nvSpPr>
        <p:spPr>
          <a:xfrm>
            <a:off x="8293608" y="5532120"/>
            <a:ext cx="182880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8348472" y="5568696"/>
            <a:ext cx="1737360" cy="868680"/>
          </a:xfrm>
          <a:prstGeom prst="rect">
            <a:avLst/>
          </a:prstGeom>
          <a:noFill/>
        </p:spPr>
        <p:txBody>
          <a:bodyPr wrap="square">
            <a:spAutoFit/>
          </a:bodyPr>
          <a:lstStyle/>
          <a:p>
            <a:pPr algn="l"/>
            <a:r>
              <a:rPr sz="1000" b="0" i="0">
                <a:solidFill>
                  <a:srgbClr val="1A1A2E"/>
                </a:solidFill>
              </a:rPr>
              <a:t>Corporate buyers;
office managers</a:t>
            </a:r>
          </a:p>
        </p:txBody>
      </p:sp>
      <p:sp>
        <p:nvSpPr>
          <p:cNvPr id="75" name="Rectangle 74"/>
          <p:cNvSpPr/>
          <p:nvPr/>
        </p:nvSpPr>
        <p:spPr>
          <a:xfrm>
            <a:off x="10149840" y="5532120"/>
            <a:ext cx="2011680" cy="960120"/>
          </a:xfrm>
          <a:prstGeom prst="rect">
            <a:avLst/>
          </a:prstGeom>
          <a:solidFill>
            <a:srgbClr val="D0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204704" y="5568696"/>
            <a:ext cx="1920240" cy="868680"/>
          </a:xfrm>
          <a:prstGeom prst="rect">
            <a:avLst/>
          </a:prstGeom>
          <a:noFill/>
        </p:spPr>
        <p:txBody>
          <a:bodyPr wrap="square">
            <a:spAutoFit/>
          </a:bodyPr>
          <a:lstStyle/>
          <a:p>
            <a:pPr algn="l"/>
            <a:r>
              <a:rPr sz="1000" b="0" i="0">
                <a:solidFill>
                  <a:srgbClr val="1A1A2E"/>
                </a:solidFill>
              </a:rPr>
              <a:t>Full item-level
customization;
B2B-first model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100584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74320" y="109728"/>
            <a:ext cx="11612880" cy="777240"/>
          </a:xfrm>
          <a:prstGeom prst="rect">
            <a:avLst/>
          </a:prstGeom>
          <a:noFill/>
        </p:spPr>
        <p:txBody>
          <a:bodyPr wrap="square">
            <a:spAutoFit/>
          </a:bodyPr>
          <a:lstStyle/>
          <a:p>
            <a:pPr algn="l"/>
            <a:r>
              <a:rPr sz="2400" b="1" i="0">
                <a:solidFill>
                  <a:srgbClr val="FFFFFF"/>
                </a:solidFill>
              </a:rPr>
              <a:t>Appendix: User Stories</a:t>
            </a:r>
          </a:p>
        </p:txBody>
      </p:sp>
      <p:sp>
        <p:nvSpPr>
          <p:cNvPr id="4" name="TextBox 3"/>
          <p:cNvSpPr txBox="1"/>
          <p:nvPr/>
        </p:nvSpPr>
        <p:spPr>
          <a:xfrm>
            <a:off x="274320" y="1051560"/>
            <a:ext cx="11612880" cy="365760"/>
          </a:xfrm>
          <a:prstGeom prst="rect">
            <a:avLst/>
          </a:prstGeom>
          <a:noFill/>
        </p:spPr>
        <p:txBody>
          <a:bodyPr wrap="square">
            <a:spAutoFit/>
          </a:bodyPr>
          <a:lstStyle/>
          <a:p>
            <a:pPr algn="l"/>
            <a:r>
              <a:rPr sz="1300" b="0" i="1">
                <a:solidFill>
                  <a:srgbClr val="008B8B"/>
                </a:solidFill>
              </a:rPr>
              <a:t>"Share My Box" Feature: Project Specification</a:t>
            </a:r>
          </a:p>
        </p:txBody>
      </p:sp>
      <p:sp>
        <p:nvSpPr>
          <p:cNvPr id="5" name="TextBox 4"/>
          <p:cNvSpPr txBox="1"/>
          <p:nvPr/>
        </p:nvSpPr>
        <p:spPr>
          <a:xfrm>
            <a:off x="274320" y="1170432"/>
            <a:ext cx="7315200" cy="347472"/>
          </a:xfrm>
          <a:prstGeom prst="rect">
            <a:avLst/>
          </a:prstGeom>
          <a:noFill/>
        </p:spPr>
        <p:txBody>
          <a:bodyPr wrap="square">
            <a:spAutoFit/>
          </a:bodyPr>
          <a:lstStyle/>
          <a:p>
            <a:pPr algn="l"/>
            <a:r>
              <a:rPr sz="1400" b="1" i="0">
                <a:solidFill>
                  <a:srgbClr val="005F5F"/>
                </a:solidFill>
              </a:rPr>
              <a:t>PROJECT NAME:  Share My Box  (Feature v1.0)</a:t>
            </a:r>
          </a:p>
        </p:txBody>
      </p:sp>
      <p:sp>
        <p:nvSpPr>
          <p:cNvPr id="6" name="Rectangle 5"/>
          <p:cNvSpPr/>
          <p:nvPr/>
        </p:nvSpPr>
        <p:spPr>
          <a:xfrm>
            <a:off x="274320" y="1600200"/>
            <a:ext cx="1371600" cy="685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20040" y="1627632"/>
            <a:ext cx="1298448" cy="320040"/>
          </a:xfrm>
          <a:prstGeom prst="rect">
            <a:avLst/>
          </a:prstGeom>
          <a:noFill/>
        </p:spPr>
        <p:txBody>
          <a:bodyPr wrap="square">
            <a:spAutoFit/>
          </a:bodyPr>
          <a:lstStyle/>
          <a:p>
            <a:pPr algn="ctr"/>
            <a:r>
              <a:rPr sz="1100" b="1" i="0">
                <a:solidFill>
                  <a:srgbClr val="FFFFFF"/>
                </a:solidFill>
              </a:rPr>
              <a:t>US-01</a:t>
            </a:r>
          </a:p>
        </p:txBody>
      </p:sp>
      <p:sp>
        <p:nvSpPr>
          <p:cNvPr id="8" name="TextBox 7"/>
          <p:cNvSpPr txBox="1"/>
          <p:nvPr/>
        </p:nvSpPr>
        <p:spPr>
          <a:xfrm>
            <a:off x="320040" y="1947672"/>
            <a:ext cx="1298448" cy="292608"/>
          </a:xfrm>
          <a:prstGeom prst="rect">
            <a:avLst/>
          </a:prstGeom>
          <a:noFill/>
        </p:spPr>
        <p:txBody>
          <a:bodyPr wrap="square">
            <a:spAutoFit/>
          </a:bodyPr>
          <a:lstStyle/>
          <a:p>
            <a:pPr algn="ctr"/>
            <a:r>
              <a:rPr sz="900" b="0" i="0">
                <a:solidFill>
                  <a:srgbClr val="CCEEEE"/>
                </a:solidFill>
              </a:rPr>
              <a:t>Existing Subscriber</a:t>
            </a:r>
          </a:p>
        </p:txBody>
      </p:sp>
      <p:sp>
        <p:nvSpPr>
          <p:cNvPr id="9" name="Rectangle 8"/>
          <p:cNvSpPr/>
          <p:nvPr/>
        </p:nvSpPr>
        <p:spPr>
          <a:xfrm>
            <a:off x="1645920" y="1600200"/>
            <a:ext cx="10241280" cy="685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37360" y="1655064"/>
            <a:ext cx="10012680" cy="576072"/>
          </a:xfrm>
          <a:prstGeom prst="rect">
            <a:avLst/>
          </a:prstGeom>
          <a:noFill/>
        </p:spPr>
        <p:txBody>
          <a:bodyPr wrap="square">
            <a:spAutoFit/>
          </a:bodyPr>
          <a:lstStyle/>
          <a:p>
            <a:pPr algn="l"/>
            <a:r>
              <a:rPr sz="1100" b="0" i="0">
                <a:solidFill>
                  <a:srgbClr val="1A1A2E"/>
                </a:solidFill>
              </a:rPr>
              <a:t>As an existing Craft Snacks subscriber, I want to generate a branded, shareable photo card after my box is delivered, so that I can share my unboxing experience on Instagram or Facebook in a visually appealing way that reflects the monthly theme.</a:t>
            </a:r>
          </a:p>
        </p:txBody>
      </p:sp>
      <p:sp>
        <p:nvSpPr>
          <p:cNvPr id="11" name="Rectangle 10"/>
          <p:cNvSpPr/>
          <p:nvPr/>
        </p:nvSpPr>
        <p:spPr>
          <a:xfrm>
            <a:off x="274320" y="2350008"/>
            <a:ext cx="1371600" cy="685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20040" y="2377439"/>
            <a:ext cx="1298448" cy="320040"/>
          </a:xfrm>
          <a:prstGeom prst="rect">
            <a:avLst/>
          </a:prstGeom>
          <a:noFill/>
        </p:spPr>
        <p:txBody>
          <a:bodyPr wrap="square">
            <a:spAutoFit/>
          </a:bodyPr>
          <a:lstStyle/>
          <a:p>
            <a:pPr algn="ctr"/>
            <a:r>
              <a:rPr sz="1100" b="1" i="0">
                <a:solidFill>
                  <a:srgbClr val="FFFFFF"/>
                </a:solidFill>
              </a:rPr>
              <a:t>US-02</a:t>
            </a:r>
          </a:p>
        </p:txBody>
      </p:sp>
      <p:sp>
        <p:nvSpPr>
          <p:cNvPr id="13" name="TextBox 12"/>
          <p:cNvSpPr txBox="1"/>
          <p:nvPr/>
        </p:nvSpPr>
        <p:spPr>
          <a:xfrm>
            <a:off x="320040" y="2697479"/>
            <a:ext cx="1298448" cy="292608"/>
          </a:xfrm>
          <a:prstGeom prst="rect">
            <a:avLst/>
          </a:prstGeom>
          <a:noFill/>
        </p:spPr>
        <p:txBody>
          <a:bodyPr wrap="square">
            <a:spAutoFit/>
          </a:bodyPr>
          <a:lstStyle/>
          <a:p>
            <a:pPr algn="ctr"/>
            <a:r>
              <a:rPr sz="900" b="0" i="0">
                <a:solidFill>
                  <a:srgbClr val="CCEEEE"/>
                </a:solidFill>
              </a:rPr>
              <a:t>Existing Subscriber</a:t>
            </a:r>
          </a:p>
        </p:txBody>
      </p:sp>
      <p:sp>
        <p:nvSpPr>
          <p:cNvPr id="14" name="Rectangle 13"/>
          <p:cNvSpPr/>
          <p:nvPr/>
        </p:nvSpPr>
        <p:spPr>
          <a:xfrm>
            <a:off x="1645920" y="2350008"/>
            <a:ext cx="10241280" cy="685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737360" y="2404872"/>
            <a:ext cx="10012680" cy="576072"/>
          </a:xfrm>
          <a:prstGeom prst="rect">
            <a:avLst/>
          </a:prstGeom>
          <a:noFill/>
        </p:spPr>
        <p:txBody>
          <a:bodyPr wrap="square">
            <a:spAutoFit/>
          </a:bodyPr>
          <a:lstStyle/>
          <a:p>
            <a:pPr algn="l"/>
            <a:r>
              <a:rPr sz="1100" b="0" i="0">
                <a:solidFill>
                  <a:srgbClr val="1A1A2E"/>
                </a:solidFill>
              </a:rPr>
              <a:t>As an existing Craft Snacks subscriber, I want to earn loyalty points whenever a friend signs up using my referral link, so that I am motivated to actively share my subscription and feel rewarded for bringing in new customers.</a:t>
            </a:r>
          </a:p>
        </p:txBody>
      </p:sp>
      <p:sp>
        <p:nvSpPr>
          <p:cNvPr id="16" name="Rectangle 15"/>
          <p:cNvSpPr/>
          <p:nvPr/>
        </p:nvSpPr>
        <p:spPr>
          <a:xfrm>
            <a:off x="274320" y="3099815"/>
            <a:ext cx="1371600" cy="685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20040" y="3127247"/>
            <a:ext cx="1298448" cy="320040"/>
          </a:xfrm>
          <a:prstGeom prst="rect">
            <a:avLst/>
          </a:prstGeom>
          <a:noFill/>
        </p:spPr>
        <p:txBody>
          <a:bodyPr wrap="square">
            <a:spAutoFit/>
          </a:bodyPr>
          <a:lstStyle/>
          <a:p>
            <a:pPr algn="ctr"/>
            <a:r>
              <a:rPr sz="1100" b="1" i="0">
                <a:solidFill>
                  <a:srgbClr val="FFFFFF"/>
                </a:solidFill>
              </a:rPr>
              <a:t>US-03</a:t>
            </a:r>
          </a:p>
        </p:txBody>
      </p:sp>
      <p:sp>
        <p:nvSpPr>
          <p:cNvPr id="18" name="TextBox 17"/>
          <p:cNvSpPr txBox="1"/>
          <p:nvPr/>
        </p:nvSpPr>
        <p:spPr>
          <a:xfrm>
            <a:off x="320040" y="3447287"/>
            <a:ext cx="1298448" cy="292608"/>
          </a:xfrm>
          <a:prstGeom prst="rect">
            <a:avLst/>
          </a:prstGeom>
          <a:noFill/>
        </p:spPr>
        <p:txBody>
          <a:bodyPr wrap="square">
            <a:spAutoFit/>
          </a:bodyPr>
          <a:lstStyle/>
          <a:p>
            <a:pPr algn="ctr"/>
            <a:r>
              <a:rPr sz="900" b="0" i="0">
                <a:solidFill>
                  <a:srgbClr val="CCEEEE"/>
                </a:solidFill>
              </a:rPr>
              <a:t>Potential New Customer</a:t>
            </a:r>
          </a:p>
        </p:txBody>
      </p:sp>
      <p:sp>
        <p:nvSpPr>
          <p:cNvPr id="19" name="Rectangle 18"/>
          <p:cNvSpPr/>
          <p:nvPr/>
        </p:nvSpPr>
        <p:spPr>
          <a:xfrm>
            <a:off x="1645920" y="3099815"/>
            <a:ext cx="10241280" cy="685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737360" y="3154679"/>
            <a:ext cx="10012680" cy="576072"/>
          </a:xfrm>
          <a:prstGeom prst="rect">
            <a:avLst/>
          </a:prstGeom>
          <a:noFill/>
        </p:spPr>
        <p:txBody>
          <a:bodyPr wrap="square">
            <a:spAutoFit/>
          </a:bodyPr>
          <a:lstStyle/>
          <a:p>
            <a:pPr algn="l"/>
            <a:r>
              <a:rPr sz="1100" b="0" i="0">
                <a:solidFill>
                  <a:srgbClr val="1A1A2E"/>
                </a:solidFill>
              </a:rPr>
              <a:t>As a potential new customer who saw a friend's snack box post, I want to click a link in the post and land on a page showing my friend's specific theme and reviews, so that I can see authentic social proof before deciding whether to subscribe.</a:t>
            </a:r>
          </a:p>
        </p:txBody>
      </p:sp>
      <p:sp>
        <p:nvSpPr>
          <p:cNvPr id="21" name="Rectangle 20"/>
          <p:cNvSpPr/>
          <p:nvPr/>
        </p:nvSpPr>
        <p:spPr>
          <a:xfrm>
            <a:off x="274320" y="3849624"/>
            <a:ext cx="1371600" cy="685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20040" y="3877056"/>
            <a:ext cx="1298448" cy="320040"/>
          </a:xfrm>
          <a:prstGeom prst="rect">
            <a:avLst/>
          </a:prstGeom>
          <a:noFill/>
        </p:spPr>
        <p:txBody>
          <a:bodyPr wrap="square">
            <a:spAutoFit/>
          </a:bodyPr>
          <a:lstStyle/>
          <a:p>
            <a:pPr algn="ctr"/>
            <a:r>
              <a:rPr sz="1100" b="1" i="0">
                <a:solidFill>
                  <a:srgbClr val="FFFFFF"/>
                </a:solidFill>
              </a:rPr>
              <a:t>US-04</a:t>
            </a:r>
          </a:p>
        </p:txBody>
      </p:sp>
      <p:sp>
        <p:nvSpPr>
          <p:cNvPr id="23" name="TextBox 22"/>
          <p:cNvSpPr txBox="1"/>
          <p:nvPr/>
        </p:nvSpPr>
        <p:spPr>
          <a:xfrm>
            <a:off x="320040" y="4197096"/>
            <a:ext cx="1298448" cy="292608"/>
          </a:xfrm>
          <a:prstGeom prst="rect">
            <a:avLst/>
          </a:prstGeom>
          <a:noFill/>
        </p:spPr>
        <p:txBody>
          <a:bodyPr wrap="square">
            <a:spAutoFit/>
          </a:bodyPr>
          <a:lstStyle/>
          <a:p>
            <a:pPr algn="ctr"/>
            <a:r>
              <a:rPr sz="900" b="0" i="0">
                <a:solidFill>
                  <a:srgbClr val="CCEEEE"/>
                </a:solidFill>
              </a:rPr>
              <a:t>Potential New Customer</a:t>
            </a:r>
          </a:p>
        </p:txBody>
      </p:sp>
      <p:sp>
        <p:nvSpPr>
          <p:cNvPr id="24" name="Rectangle 23"/>
          <p:cNvSpPr/>
          <p:nvPr/>
        </p:nvSpPr>
        <p:spPr>
          <a:xfrm>
            <a:off x="1645920" y="3849624"/>
            <a:ext cx="10241280" cy="685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737360" y="3904487"/>
            <a:ext cx="10012680" cy="576072"/>
          </a:xfrm>
          <a:prstGeom prst="rect">
            <a:avLst/>
          </a:prstGeom>
          <a:noFill/>
        </p:spPr>
        <p:txBody>
          <a:bodyPr wrap="square">
            <a:spAutoFit/>
          </a:bodyPr>
          <a:lstStyle/>
          <a:p>
            <a:pPr algn="l"/>
            <a:r>
              <a:rPr sz="1100" b="0" i="0">
                <a:solidFill>
                  <a:srgbClr val="1A1A2E"/>
                </a:solidFill>
              </a:rPr>
              <a:t>As a potential new customer arriving via a referral link, I want to see a first-month discount offer prominently on the landing page, so that the financial barrier to trying Craft Snacks for the first time feels low.</a:t>
            </a:r>
          </a:p>
        </p:txBody>
      </p:sp>
      <p:sp>
        <p:nvSpPr>
          <p:cNvPr id="26" name="Rectangle 25"/>
          <p:cNvSpPr/>
          <p:nvPr/>
        </p:nvSpPr>
        <p:spPr>
          <a:xfrm>
            <a:off x="274320" y="4599432"/>
            <a:ext cx="1371600" cy="685800"/>
          </a:xfrm>
          <a:prstGeom prst="rect">
            <a:avLst/>
          </a:prstGeom>
          <a:solidFill>
            <a:srgbClr val="005F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20040" y="4626864"/>
            <a:ext cx="1298448" cy="320040"/>
          </a:xfrm>
          <a:prstGeom prst="rect">
            <a:avLst/>
          </a:prstGeom>
          <a:noFill/>
        </p:spPr>
        <p:txBody>
          <a:bodyPr wrap="square">
            <a:spAutoFit/>
          </a:bodyPr>
          <a:lstStyle/>
          <a:p>
            <a:pPr algn="ctr"/>
            <a:r>
              <a:rPr sz="1100" b="1" i="0">
                <a:solidFill>
                  <a:srgbClr val="FFFFFF"/>
                </a:solidFill>
              </a:rPr>
              <a:t>US-05</a:t>
            </a:r>
          </a:p>
        </p:txBody>
      </p:sp>
      <p:sp>
        <p:nvSpPr>
          <p:cNvPr id="28" name="TextBox 27"/>
          <p:cNvSpPr txBox="1"/>
          <p:nvPr/>
        </p:nvSpPr>
        <p:spPr>
          <a:xfrm>
            <a:off x="320040" y="4946904"/>
            <a:ext cx="1298448" cy="292608"/>
          </a:xfrm>
          <a:prstGeom prst="rect">
            <a:avLst/>
          </a:prstGeom>
          <a:noFill/>
        </p:spPr>
        <p:txBody>
          <a:bodyPr wrap="square">
            <a:spAutoFit/>
          </a:bodyPr>
          <a:lstStyle/>
          <a:p>
            <a:pPr algn="ctr"/>
            <a:r>
              <a:rPr sz="900" b="0" i="0">
                <a:solidFill>
                  <a:srgbClr val="CCEEEE"/>
                </a:solidFill>
              </a:rPr>
              <a:t>Growth PM</a:t>
            </a:r>
          </a:p>
        </p:txBody>
      </p:sp>
      <p:sp>
        <p:nvSpPr>
          <p:cNvPr id="29" name="Rectangle 28"/>
          <p:cNvSpPr/>
          <p:nvPr/>
        </p:nvSpPr>
        <p:spPr>
          <a:xfrm>
            <a:off x="1645920" y="4599432"/>
            <a:ext cx="10241280" cy="685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737360" y="4654296"/>
            <a:ext cx="10012680" cy="576072"/>
          </a:xfrm>
          <a:prstGeom prst="rect">
            <a:avLst/>
          </a:prstGeom>
          <a:noFill/>
        </p:spPr>
        <p:txBody>
          <a:bodyPr wrap="square">
            <a:spAutoFit/>
          </a:bodyPr>
          <a:lstStyle/>
          <a:p>
            <a:pPr algn="l"/>
            <a:r>
              <a:rPr sz="1100" b="0" i="0">
                <a:solidFill>
                  <a:srgbClr val="1A1A2E"/>
                </a:solidFill>
              </a:rPr>
              <a:t>As the Growth PM, I want to track the number of times a user clicks the 'Share My Box' button, completes a share, and generates a downstream sign-up via their referral link, so that I can measure the viral coefficient (K-factor) of the feature in real time.</a:t>
            </a:r>
          </a:p>
        </p:txBody>
      </p:sp>
      <p:sp>
        <p:nvSpPr>
          <p:cNvPr id="31" name="Rectangle 30"/>
          <p:cNvSpPr/>
          <p:nvPr/>
        </p:nvSpPr>
        <p:spPr>
          <a:xfrm>
            <a:off x="274320" y="6217920"/>
            <a:ext cx="11640312" cy="530352"/>
          </a:xfrm>
          <a:prstGeom prst="rect">
            <a:avLst/>
          </a:prstGeom>
          <a:solidFill>
            <a:srgbClr val="E86B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57200" y="6236208"/>
            <a:ext cx="11338560" cy="256032"/>
          </a:xfrm>
          <a:prstGeom prst="rect">
            <a:avLst/>
          </a:prstGeom>
          <a:noFill/>
        </p:spPr>
        <p:txBody>
          <a:bodyPr wrap="square">
            <a:spAutoFit/>
          </a:bodyPr>
          <a:lstStyle/>
          <a:p>
            <a:pPr algn="l"/>
            <a:r>
              <a:rPr sz="1000" b="0" i="0" dirty="0">
                <a:solidFill>
                  <a:srgbClr val="FFFFFF"/>
                </a:solidFill>
              </a:rPr>
              <a:t>DEV TEAM QUESTIONS:  (1) What is the engineering complexity of generating a dynamic branded image card server-side?  (2) Which social platforms should we integrate with in v1 (Instagram, Facebook, X)?  (3) What is the latency of the referral link tracking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6744</Words>
  <Application>Microsoft Office PowerPoint</Application>
  <PresentationFormat>Custom</PresentationFormat>
  <Paragraphs>594</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Christopher O'Hara</cp:lastModifiedBy>
  <cp:revision>2</cp:revision>
  <dcterms:created xsi:type="dcterms:W3CDTF">2013-01-27T09:14:16Z</dcterms:created>
  <dcterms:modified xsi:type="dcterms:W3CDTF">2026-05-09T06:11:39Z</dcterms:modified>
  <cp:category/>
</cp:coreProperties>
</file>